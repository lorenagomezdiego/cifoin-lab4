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6" r:id="rId12"/>
    <p:sldId id="267" r:id="rId13"/>
    <p:sldId id="268" r:id="rId14"/>
    <p:sldId id="261" r:id="rId15"/>
    <p:sldId id="269" r:id="rId16"/>
    <p:sldId id="270" r:id="rId17"/>
    <p:sldId id="271" r:id="rId18"/>
    <p:sldId id="263" r:id="rId19"/>
    <p:sldId id="264" r:id="rId20"/>
    <p:sldId id="272" r:id="rId21"/>
    <p:sldId id="273" r:id="rId22"/>
    <p:sldId id="265" r:id="rId23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C31D8-CF5C-36EE-BD1F-8AD27AE89928}" v="1210" dt="2026-06-12T07:59:40.005"/>
    <p1510:client id="{DCB3A555-8316-CC6D-A55B-BA0498C8937E}" v="235" dt="2026-06-12T14:37:10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Pulse para desplazar la diapositiva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Pulse para editar el formato de las notas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&lt;cabecera&gt;</a:t>
            </a:r>
          </a:p>
        </p:txBody>
      </p:sp>
      <p:sp>
        <p:nvSpPr>
          <p:cNvPr id="53" name="PlaceHolder 4"/>
          <p:cNvSpPr>
            <a:spLocks noGrp="1"/>
          </p:cNvSpPr>
          <p:nvPr>
            <p:ph type="dt" idx="1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ftr" idx="1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55" name="PlaceHolder 6"/>
          <p:cNvSpPr>
            <a:spLocks noGrp="1"/>
          </p:cNvSpPr>
          <p:nvPr>
            <p:ph type="sldNum" idx="1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6599423-8800-46A6-A27C-BCA7242B79FB}" type="slidenum"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27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66B099C-B93A-468D-B651-CAC8146CAC77}" type="slidenum">
              <a:rPr lang="es-E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28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43B1B88-5708-4C64-9CD1-0A9A81B50E36}" type="slidenum">
              <a:rPr lang="es-ES" sz="12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29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95B8563-3C3B-4E2B-A4C3-AD887D895BE3}" type="slidenum">
              <a:rPr lang="es-ES" sz="1200" b="0" strike="noStrike" spc="-1">
                <a:solidFill>
                  <a:srgbClr val="000000"/>
                </a:solidFill>
                <a:latin typeface="Times New Roman"/>
              </a:rPr>
              <a:t>5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78D76-0F5D-C7AE-D806-F2C854C3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>
            <a:extLst>
              <a:ext uri="{FF2B5EF4-FFF2-40B4-BE49-F238E27FC236}">
                <a16:creationId xmlns:a16="http://schemas.microsoft.com/office/drawing/2014/main" id="{FB565E12-DDAF-1F8E-641E-337DDAD94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>
            <a:extLst>
              <a:ext uri="{FF2B5EF4-FFF2-40B4-BE49-F238E27FC236}">
                <a16:creationId xmlns:a16="http://schemas.microsoft.com/office/drawing/2014/main" id="{4CD2DE4E-F4A9-A477-17E6-B99FBE06F68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>
            <a:extLst>
              <a:ext uri="{FF2B5EF4-FFF2-40B4-BE49-F238E27FC236}">
                <a16:creationId xmlns:a16="http://schemas.microsoft.com/office/drawing/2014/main" id="{6849043E-385A-4C13-7E7E-E2905A715C8B}"/>
              </a:ext>
            </a:extLst>
          </p:cNvPr>
          <p:cNvSpPr>
            <a:spLocks noGrp="1"/>
          </p:cNvSpPr>
          <p:nvPr>
            <p:ph type="sldNum" idx="29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95B8563-3C3B-4E2B-A4C3-AD887D895BE3}" type="slidenum">
              <a:rPr lang="es-ES" sz="1200" b="0" strike="noStrike" spc="-1">
                <a:solidFill>
                  <a:srgbClr val="000000"/>
                </a:solidFill>
                <a:latin typeface="Times New Roman"/>
              </a:rPr>
              <a:t>6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01825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FEB82-36E0-E400-3C87-90B3A201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>
            <a:extLst>
              <a:ext uri="{FF2B5EF4-FFF2-40B4-BE49-F238E27FC236}">
                <a16:creationId xmlns:a16="http://schemas.microsoft.com/office/drawing/2014/main" id="{66EE67E1-5E13-FBE3-76AF-ECDD328A5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>
            <a:extLst>
              <a:ext uri="{FF2B5EF4-FFF2-40B4-BE49-F238E27FC236}">
                <a16:creationId xmlns:a16="http://schemas.microsoft.com/office/drawing/2014/main" id="{1A20D198-B1A7-99E0-2441-4835E9EE40E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>
            <a:extLst>
              <a:ext uri="{FF2B5EF4-FFF2-40B4-BE49-F238E27FC236}">
                <a16:creationId xmlns:a16="http://schemas.microsoft.com/office/drawing/2014/main" id="{B78880DE-6E5C-F300-F56D-90C158E539C8}"/>
              </a:ext>
            </a:extLst>
          </p:cNvPr>
          <p:cNvSpPr>
            <a:spLocks noGrp="1"/>
          </p:cNvSpPr>
          <p:nvPr>
            <p:ph type="sldNum" idx="29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95B8563-3C3B-4E2B-A4C3-AD887D895BE3}" type="slidenum">
              <a:rPr lang="es-ES" sz="1200" b="0" strike="noStrike" spc="-1">
                <a:solidFill>
                  <a:srgbClr val="000000"/>
                </a:solidFill>
                <a:latin typeface="Times New Roman"/>
              </a:rPr>
              <a:t>7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5417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58ECB-BB21-C670-341A-75C29B52A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>
            <a:extLst>
              <a:ext uri="{FF2B5EF4-FFF2-40B4-BE49-F238E27FC236}">
                <a16:creationId xmlns:a16="http://schemas.microsoft.com/office/drawing/2014/main" id="{F7381ADD-8164-F822-090F-C182A3ACB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>
            <a:extLst>
              <a:ext uri="{FF2B5EF4-FFF2-40B4-BE49-F238E27FC236}">
                <a16:creationId xmlns:a16="http://schemas.microsoft.com/office/drawing/2014/main" id="{82EE7361-AD6F-9018-19E2-23F132FC89B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>
            <a:extLst>
              <a:ext uri="{FF2B5EF4-FFF2-40B4-BE49-F238E27FC236}">
                <a16:creationId xmlns:a16="http://schemas.microsoft.com/office/drawing/2014/main" id="{0AAB0B31-92C8-5A9E-60D4-94E6111209B4}"/>
              </a:ext>
            </a:extLst>
          </p:cNvPr>
          <p:cNvSpPr>
            <a:spLocks noGrp="1"/>
          </p:cNvSpPr>
          <p:nvPr>
            <p:ph type="sldNum" idx="29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95B8563-3C3B-4E2B-A4C3-AD887D895BE3}" type="slidenum">
              <a:rPr lang="es-ES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8795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30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C8AD907-F870-4A7C-A2F8-FDE00D546608}" type="slidenum">
              <a:rPr lang="es-ES" sz="1200" b="0" strike="noStrike" spc="-1">
                <a:solidFill>
                  <a:srgbClr val="000000"/>
                </a:solidFill>
                <a:latin typeface="Times New Roman"/>
              </a:rPr>
              <a:t>9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8B677-D434-CDC5-43B8-C260504D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>
            <a:extLst>
              <a:ext uri="{FF2B5EF4-FFF2-40B4-BE49-F238E27FC236}">
                <a16:creationId xmlns:a16="http://schemas.microsoft.com/office/drawing/2014/main" id="{66A192F8-7DCD-3A2B-16F8-89A514B0A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>
            <a:extLst>
              <a:ext uri="{FF2B5EF4-FFF2-40B4-BE49-F238E27FC236}">
                <a16:creationId xmlns:a16="http://schemas.microsoft.com/office/drawing/2014/main" id="{D4EEAB99-708F-A248-A64D-D8D53316480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>
            <a:extLst>
              <a:ext uri="{FF2B5EF4-FFF2-40B4-BE49-F238E27FC236}">
                <a16:creationId xmlns:a16="http://schemas.microsoft.com/office/drawing/2014/main" id="{2169FA89-05E3-C09D-C38E-365B3A8255C5}"/>
              </a:ext>
            </a:extLst>
          </p:cNvPr>
          <p:cNvSpPr>
            <a:spLocks noGrp="1"/>
          </p:cNvSpPr>
          <p:nvPr>
            <p:ph type="sldNum" idx="30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C8AD907-F870-4A7C-A2F8-FDE00D546608}" type="slidenum">
              <a:rPr lang="es-ES" sz="1200" b="0" strike="noStrike" spc="-1">
                <a:solidFill>
                  <a:srgbClr val="000000"/>
                </a:solidFill>
                <a:latin typeface="Times New Roman"/>
              </a:rPr>
              <a:t>10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99460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AD4A4-2E80-4621-EB00-06A4E785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>
            <a:extLst>
              <a:ext uri="{FF2B5EF4-FFF2-40B4-BE49-F238E27FC236}">
                <a16:creationId xmlns:a16="http://schemas.microsoft.com/office/drawing/2014/main" id="{A681FD39-6F24-6140-30DD-EB1877320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>
            <a:extLst>
              <a:ext uri="{FF2B5EF4-FFF2-40B4-BE49-F238E27FC236}">
                <a16:creationId xmlns:a16="http://schemas.microsoft.com/office/drawing/2014/main" id="{D166B6FB-BB24-B139-7CD9-A51A168517A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>
            <a:extLst>
              <a:ext uri="{FF2B5EF4-FFF2-40B4-BE49-F238E27FC236}">
                <a16:creationId xmlns:a16="http://schemas.microsoft.com/office/drawing/2014/main" id="{66CA62EA-5943-ABB2-A97B-78B68CE0986E}"/>
              </a:ext>
            </a:extLst>
          </p:cNvPr>
          <p:cNvSpPr>
            <a:spLocks noGrp="1"/>
          </p:cNvSpPr>
          <p:nvPr>
            <p:ph type="sldNum" idx="30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C8AD907-F870-4A7C-A2F8-FDE00D546608}" type="slidenum">
              <a:rPr lang="es-ES" sz="1200" b="0" strike="noStrike" spc="-1">
                <a:solidFill>
                  <a:srgbClr val="000000"/>
                </a:solidFill>
                <a:latin typeface="Times New Roman"/>
              </a:rPr>
              <a:t>11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8192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8B90B-8360-28DE-5860-197E6D580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>
            <a:extLst>
              <a:ext uri="{FF2B5EF4-FFF2-40B4-BE49-F238E27FC236}">
                <a16:creationId xmlns:a16="http://schemas.microsoft.com/office/drawing/2014/main" id="{20F26A5C-787A-CA46-99A4-24406C55D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>
            <a:extLst>
              <a:ext uri="{FF2B5EF4-FFF2-40B4-BE49-F238E27FC236}">
                <a16:creationId xmlns:a16="http://schemas.microsoft.com/office/drawing/2014/main" id="{85F96035-FF38-A385-F786-14569555AE1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>
            <a:extLst>
              <a:ext uri="{FF2B5EF4-FFF2-40B4-BE49-F238E27FC236}">
                <a16:creationId xmlns:a16="http://schemas.microsoft.com/office/drawing/2014/main" id="{FD33CEBD-5499-0E2F-979C-AC95A881EB00}"/>
              </a:ext>
            </a:extLst>
          </p:cNvPr>
          <p:cNvSpPr>
            <a:spLocks noGrp="1"/>
          </p:cNvSpPr>
          <p:nvPr>
            <p:ph type="sldNum" idx="30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C8AD907-F870-4A7C-A2F8-FDE00D546608}" type="slidenum">
              <a:rPr lang="es-ES" sz="1200" b="0" strike="noStrike" spc="-1">
                <a:solidFill>
                  <a:srgbClr val="000000"/>
                </a:solidFill>
                <a:latin typeface="Times New Roman"/>
              </a:rPr>
              <a:t>12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0877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32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E018BBF-0114-4981-8616-880AC1AAF1A2}" type="slidenum">
              <a:rPr lang="es-ES" sz="1200" b="0" strike="noStrike" spc="-1">
                <a:solidFill>
                  <a:srgbClr val="000000"/>
                </a:solidFill>
                <a:latin typeface="Times New Roman"/>
              </a:rPr>
              <a:t>13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33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B7322A-9675-4132-A4B9-C6C100333E48}" type="slidenum">
              <a:rPr lang="es-ES" sz="1200" b="0" strike="noStrike" spc="-1">
                <a:solidFill>
                  <a:srgbClr val="000000"/>
                </a:solidFill>
                <a:latin typeface="Times New Roman"/>
              </a:rPr>
              <a:t>14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23F25-CB75-90FB-6390-8E1DBA07E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>
            <a:extLst>
              <a:ext uri="{FF2B5EF4-FFF2-40B4-BE49-F238E27FC236}">
                <a16:creationId xmlns:a16="http://schemas.microsoft.com/office/drawing/2014/main" id="{1F937154-8BAE-5E48-870C-57B785C4B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>
            <a:extLst>
              <a:ext uri="{FF2B5EF4-FFF2-40B4-BE49-F238E27FC236}">
                <a16:creationId xmlns:a16="http://schemas.microsoft.com/office/drawing/2014/main" id="{19EE44AA-B20A-D8E8-1F71-F0089C68E82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>
            <a:extLst>
              <a:ext uri="{FF2B5EF4-FFF2-40B4-BE49-F238E27FC236}">
                <a16:creationId xmlns:a16="http://schemas.microsoft.com/office/drawing/2014/main" id="{93E0DE26-3684-AF3A-734F-21F0BB3A1D42}"/>
              </a:ext>
            </a:extLst>
          </p:cNvPr>
          <p:cNvSpPr>
            <a:spLocks noGrp="1"/>
          </p:cNvSpPr>
          <p:nvPr>
            <p:ph type="sldNum" idx="33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B7322A-9675-4132-A4B9-C6C100333E48}" type="slidenum">
              <a:rPr lang="es-ES" sz="1200" b="0" strike="noStrike" spc="-1">
                <a:solidFill>
                  <a:srgbClr val="000000"/>
                </a:solidFill>
                <a:latin typeface="Times New Roman"/>
              </a:rPr>
              <a:t>15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17424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4FB62-9672-E70F-0EA1-DC55AD4B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>
            <a:extLst>
              <a:ext uri="{FF2B5EF4-FFF2-40B4-BE49-F238E27FC236}">
                <a16:creationId xmlns:a16="http://schemas.microsoft.com/office/drawing/2014/main" id="{0B65AE4D-1F3F-AAA0-6D05-DC9352A3C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>
            <a:extLst>
              <a:ext uri="{FF2B5EF4-FFF2-40B4-BE49-F238E27FC236}">
                <a16:creationId xmlns:a16="http://schemas.microsoft.com/office/drawing/2014/main" id="{4653266D-7102-E75B-26D8-1CAA5ABEAD5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>
            <a:extLst>
              <a:ext uri="{FF2B5EF4-FFF2-40B4-BE49-F238E27FC236}">
                <a16:creationId xmlns:a16="http://schemas.microsoft.com/office/drawing/2014/main" id="{9BEE9D49-256D-79EF-8FFD-D67DB5D6A2C8}"/>
              </a:ext>
            </a:extLst>
          </p:cNvPr>
          <p:cNvSpPr>
            <a:spLocks noGrp="1"/>
          </p:cNvSpPr>
          <p:nvPr>
            <p:ph type="sldNum" idx="33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B7322A-9675-4132-A4B9-C6C100333E48}" type="slidenum">
              <a:rPr lang="es-ES" sz="1200" b="0" strike="noStrike" spc="-1">
                <a:solidFill>
                  <a:srgbClr val="000000"/>
                </a:solidFill>
                <a:latin typeface="Times New Roman"/>
              </a:rPr>
              <a:t>15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4395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987000" y="1522080"/>
            <a:ext cx="2598840" cy="62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3091A32-5306-48E5-BC58-99CE6E2BBC0A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987000" y="1522080"/>
            <a:ext cx="2598840" cy="62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066CD7A-E0D0-421E-A85B-A3488D2BDCF8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987000" y="1522080"/>
            <a:ext cx="2598840" cy="62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6A5917E-A667-4A73-B841-7749C4004555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987000" y="1522080"/>
            <a:ext cx="2598840" cy="62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B061E67D-25D8-4835-9AC4-DCC6137ACA0A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987000" y="1522080"/>
            <a:ext cx="2598840" cy="62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05DBDE-4052-4320-A811-C99AEFB9BAC4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o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5600F3F4-21C3-4463-AD2D-28BEBC09F66C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svg"/><Relationship Id="rId4" Type="http://schemas.openxmlformats.org/officeDocument/2006/relationships/image" Target="../media/image4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k object 16"/>
          <p:cNvSpPr/>
          <p:nvPr/>
        </p:nvSpPr>
        <p:spPr>
          <a:xfrm>
            <a:off x="891360" y="5283720"/>
            <a:ext cx="2624040" cy="15739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4400" y="2126160"/>
            <a:ext cx="10362960" cy="11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ES" sz="1600" b="0" strike="noStrike" spc="-1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5695920" y="6465240"/>
            <a:ext cx="1210680" cy="15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9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900" b="0" strike="noStrike" spc="-7">
                <a:solidFill>
                  <a:srgbClr val="585858"/>
                </a:solidFill>
                <a:latin typeface="Arial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931176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6D4A55-32FC-4F04-81D3-01347F39D258}" type="slidenum">
              <a:rPr lang="es-ES" sz="18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/>
          <p:cNvSpPr/>
          <p:nvPr/>
        </p:nvSpPr>
        <p:spPr>
          <a:xfrm>
            <a:off x="891360" y="5283720"/>
            <a:ext cx="2624040" cy="15739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90400" y="206640"/>
            <a:ext cx="10991520" cy="30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2152800"/>
            <a:ext cx="10972440" cy="39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Séptimo nivel del esquema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ftr" idx="4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&lt;pie de página&gt;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5"/>
          </p:nvPr>
        </p:nvSpPr>
        <p:spPr>
          <a:xfrm>
            <a:off x="931176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3B6FBA-C4B5-4D38-9ED8-525B5F7AA558}" type="slidenum">
              <a:rPr lang="es-ES" sz="18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k object 16"/>
          <p:cNvSpPr/>
          <p:nvPr/>
        </p:nvSpPr>
        <p:spPr>
          <a:xfrm>
            <a:off x="891360" y="5283720"/>
            <a:ext cx="2624040" cy="15739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987000" y="1698840"/>
            <a:ext cx="2598840" cy="26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ES" sz="1600" b="0" strike="noStrike" spc="-1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31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Séptimo nivel del esquema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31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Séptimo nivel del esquema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ftr" idx="6"/>
          </p:nvPr>
        </p:nvSpPr>
        <p:spPr>
          <a:xfrm>
            <a:off x="5695920" y="6465240"/>
            <a:ext cx="1210680" cy="15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9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900" b="0" strike="noStrike" spc="-7">
                <a:solidFill>
                  <a:srgbClr val="585858"/>
                </a:solidFill>
                <a:latin typeface="Arial"/>
              </a:rPr>
              <a:t>&lt;pie de página&gt;</a:t>
            </a:r>
            <a:endParaRPr lang="es-E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dt" idx="7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20" name="PlaceHolder 6"/>
          <p:cNvSpPr>
            <a:spLocks noGrp="1"/>
          </p:cNvSpPr>
          <p:nvPr>
            <p:ph type="sldNum" idx="8"/>
          </p:nvPr>
        </p:nvSpPr>
        <p:spPr>
          <a:xfrm>
            <a:off x="931176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76F2DF-B4E2-4C16-B56D-DA49D41E2B97}" type="slidenum">
              <a:rPr lang="es-ES" sz="18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k object 16" hidden="1"/>
          <p:cNvSpPr/>
          <p:nvPr/>
        </p:nvSpPr>
        <p:spPr>
          <a:xfrm>
            <a:off x="891360" y="5283720"/>
            <a:ext cx="2624040" cy="15739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bk object 16"/>
          <p:cNvSpPr/>
          <p:nvPr/>
        </p:nvSpPr>
        <p:spPr>
          <a:xfrm>
            <a:off x="0" y="2636640"/>
            <a:ext cx="3944160" cy="1584720"/>
          </a:xfrm>
          <a:custGeom>
            <a:avLst/>
            <a:gdLst>
              <a:gd name="textAreaLeft" fmla="*/ 0 w 3944160"/>
              <a:gd name="textAreaRight" fmla="*/ 3944520 w 3944160"/>
              <a:gd name="textAreaTop" fmla="*/ 0 h 1584720"/>
              <a:gd name="textAreaBottom" fmla="*/ 1585080 h 1584720"/>
            </a:gdLst>
            <a:ahLst/>
            <a:cxnLst/>
            <a:rect l="textAreaLeft" t="textAreaTop" r="textAreaRight" b="textAreaBottom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bk object 17"/>
          <p:cNvSpPr/>
          <p:nvPr/>
        </p:nvSpPr>
        <p:spPr>
          <a:xfrm>
            <a:off x="771120" y="2952000"/>
            <a:ext cx="2403000" cy="953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987000" y="1698840"/>
            <a:ext cx="2598840" cy="26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ES" sz="1600" b="0" strike="noStrike" spc="-1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dt" idx="9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sldNum" idx="10"/>
          </p:nvPr>
        </p:nvSpPr>
        <p:spPr>
          <a:xfrm>
            <a:off x="92962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DB2E40-FE31-446B-879C-1841D6890297}" type="slidenum">
              <a:rPr lang="es-ES" sz="18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9" name="Gráfico 5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2891160" y="635760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k object 16" hidden="1"/>
          <p:cNvSpPr/>
          <p:nvPr/>
        </p:nvSpPr>
        <p:spPr>
          <a:xfrm>
            <a:off x="891360" y="5283720"/>
            <a:ext cx="2624040" cy="15739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bk object 16"/>
          <p:cNvSpPr/>
          <p:nvPr/>
        </p:nvSpPr>
        <p:spPr>
          <a:xfrm>
            <a:off x="594360" y="4722480"/>
            <a:ext cx="1520640" cy="125352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dt" idx="11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sldNum" idx="12"/>
          </p:nvPr>
        </p:nvSpPr>
        <p:spPr>
          <a:xfrm>
            <a:off x="937260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BC3B6D-3A1B-40BE-961B-3DC6D4609C08}" type="slidenum">
              <a:rPr lang="es-ES" sz="18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7" name="Gráfico 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k object 16"/>
          <p:cNvSpPr/>
          <p:nvPr/>
        </p:nvSpPr>
        <p:spPr>
          <a:xfrm>
            <a:off x="891360" y="5283720"/>
            <a:ext cx="2624040" cy="15739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Rectangle 47"/>
          <p:cNvSpPr/>
          <p:nvPr/>
        </p:nvSpPr>
        <p:spPr>
          <a:xfrm>
            <a:off x="608040" y="380880"/>
            <a:ext cx="45360" cy="683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36560" y="380880"/>
            <a:ext cx="7777800" cy="31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 lnSpcReduction="1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s-ES" sz="2800" b="1" strike="noStrike" spc="-1">
                <a:solidFill>
                  <a:schemeClr val="dk1">
                    <a:lumMod val="65000"/>
                    <a:lumOff val="35000"/>
                  </a:schemeClr>
                </a:solidFill>
                <a:latin typeface="Calibri"/>
                <a:ea typeface="Open Sans Extrabold"/>
              </a:rPr>
              <a:t>TITULO</a:t>
            </a:r>
            <a:endParaRPr lang="es-E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8040" y="1295280"/>
            <a:ext cx="11051640" cy="49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Open Sans Light"/>
              </a:rPr>
              <a:t>Texto del contenido</a:t>
            </a:r>
            <a:endParaRPr lang="es-ES" sz="2400" b="0" strike="noStrike" spc="-1">
              <a:solidFill>
                <a:schemeClr val="dk1"/>
              </a:solidFill>
              <a:latin typeface="Calibri"/>
            </a:endParaRPr>
          </a:p>
          <a:p>
            <a:pPr marL="457200" indent="0">
              <a:lnSpc>
                <a:spcPct val="100000"/>
              </a:lnSpc>
              <a:buNone/>
            </a:pPr>
            <a:r>
              <a:rPr lang="es-ES" sz="1800" b="0" strike="noStrike" spc="-1">
                <a:solidFill>
                  <a:srgbClr val="000000"/>
                </a:solidFill>
                <a:latin typeface="Calibri"/>
                <a:ea typeface="Open Sans Light"/>
              </a:rPr>
              <a:t>Segundo nivel</a:t>
            </a: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  <a:p>
            <a:pPr marL="914400" indent="0">
              <a:lnSpc>
                <a:spcPct val="100000"/>
              </a:lnSpc>
              <a:buNone/>
            </a:pPr>
            <a:r>
              <a:rPr lang="es-ES" sz="1600" b="0" strike="noStrike" spc="-1">
                <a:solidFill>
                  <a:srgbClr val="000000"/>
                </a:solidFill>
                <a:latin typeface="Calibri"/>
                <a:ea typeface="Open Sans Light"/>
              </a:rPr>
              <a:t>Tercer nivel</a:t>
            </a:r>
            <a:endParaRPr lang="es-ES" sz="1600" b="0" strike="noStrike" spc="-1">
              <a:solidFill>
                <a:schemeClr val="dk1"/>
              </a:solidFill>
              <a:latin typeface="Calibri"/>
            </a:endParaRPr>
          </a:p>
          <a:p>
            <a:pPr marL="1371600" indent="0">
              <a:lnSpc>
                <a:spcPct val="100000"/>
              </a:lnSpc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Calibri"/>
                <a:ea typeface="Open Sans Light"/>
              </a:rPr>
              <a:t>Cuarto nivel</a:t>
            </a:r>
            <a:endParaRPr lang="es-ES" sz="1400" b="0" strike="noStrike" spc="-1">
              <a:solidFill>
                <a:schemeClr val="dk1"/>
              </a:solidFill>
              <a:latin typeface="Calibri"/>
            </a:endParaRPr>
          </a:p>
          <a:p>
            <a:pPr marL="1828800" indent="0">
              <a:lnSpc>
                <a:spcPct val="100000"/>
              </a:lnSpc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Calibri"/>
                <a:ea typeface="Open Sans Light"/>
              </a:rPr>
              <a:t>Quinto nivel</a:t>
            </a:r>
            <a:endParaRPr lang="es-ES" sz="1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736560" y="730800"/>
            <a:ext cx="7777800" cy="38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0" strike="noStrike" spc="-1">
                <a:solidFill>
                  <a:srgbClr val="000000"/>
                </a:solidFill>
                <a:latin typeface="Calibri"/>
                <a:ea typeface="Open Sans Light"/>
              </a:rPr>
              <a:t>Subtítulo del artículo con una explicación corta a modo resumen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3"/>
          </p:nvPr>
        </p:nvSpPr>
        <p:spPr>
          <a:xfrm>
            <a:off x="609480" y="6387480"/>
            <a:ext cx="1980000" cy="302760"/>
          </a:xfrm>
          <a:prstGeom prst="rect">
            <a:avLst/>
          </a:prstGeom>
          <a:noFill/>
          <a:ln w="0">
            <a:noFill/>
          </a:ln>
        </p:spPr>
        <p:txBody>
          <a:bodyPr lIns="117360" tIns="58680" rIns="117360" bIns="5868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ftr" idx="14"/>
          </p:nvPr>
        </p:nvSpPr>
        <p:spPr>
          <a:xfrm>
            <a:off x="2894760" y="6387480"/>
            <a:ext cx="6402240" cy="302760"/>
          </a:xfrm>
          <a:prstGeom prst="rect">
            <a:avLst/>
          </a:prstGeom>
          <a:noFill/>
          <a:ln w="0">
            <a:noFill/>
          </a:ln>
        </p:spPr>
        <p:txBody>
          <a:bodyPr lIns="117360" tIns="58680" rIns="117360" bIns="5868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</a:rPr>
              <a:t>&lt;pie de página&gt;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15"/>
          </p:nvPr>
        </p:nvSpPr>
        <p:spPr>
          <a:xfrm>
            <a:off x="11431440" y="6388200"/>
            <a:ext cx="760320" cy="3027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117360" tIns="58680" rIns="117360" bIns="5868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704C10-5E87-4EDD-BA3A-34FF55E334FC}" type="slidenum">
              <a:rPr lang="en-US" sz="1200" b="0" strike="noStrike" spc="-1">
                <a:solidFill>
                  <a:schemeClr val="dk1"/>
                </a:solidFill>
                <a:latin typeface="Calibri"/>
              </a:rPr>
              <a:t>‹Nº›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scualmunoz/cifoin-lab4.git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sv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bject 3"/>
          <p:cNvSpPr/>
          <p:nvPr/>
        </p:nvSpPr>
        <p:spPr>
          <a:xfrm>
            <a:off x="2749680" y="4919760"/>
            <a:ext cx="921348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lang="es-ES" sz="3200" b="1" strike="noStrike" spc="-1">
                <a:solidFill>
                  <a:schemeClr val="dk1"/>
                </a:solidFill>
                <a:latin typeface="Lucida Sans"/>
              </a:rPr>
              <a:t>Lab Book 4.0 Circuits and Compact Models</a:t>
            </a: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object 4"/>
          <p:cNvSpPr/>
          <p:nvPr/>
        </p:nvSpPr>
        <p:spPr>
          <a:xfrm>
            <a:off x="2749680" y="5610240"/>
            <a:ext cx="822276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lang="es-ES" sz="1800" b="0" strike="noStrike" spc="162">
                <a:solidFill>
                  <a:schemeClr val="dk1"/>
                </a:solidFill>
                <a:latin typeface="Arial"/>
              </a:rPr>
              <a:t>Student: Lorena Gómez Diego y Marta Orient Cabañas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object 5"/>
          <p:cNvSpPr/>
          <p:nvPr/>
        </p:nvSpPr>
        <p:spPr>
          <a:xfrm>
            <a:off x="0" y="0"/>
            <a:ext cx="12191760" cy="41889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423E7B-1B15-4487-9E62-B2EA26A8C4D6}" type="slidenum"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408960"/>
            <a:ext cx="615348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s-ES" sz="2500" b="1" u="sng" strike="noStrike" spc="-7">
                <a:solidFill>
                  <a:schemeClr val="dk1"/>
                </a:solidFill>
                <a:uFillTx/>
                <a:latin typeface="Calibri"/>
              </a:rPr>
              <a:t>Instructions</a:t>
            </a:r>
            <a:br>
              <a:rPr sz="2400"/>
            </a:br>
            <a:r>
              <a:rPr lang="es-ES" sz="2000" b="0" strike="noStrike" spc="-7">
                <a:solidFill>
                  <a:schemeClr val="dk1"/>
                </a:solidFill>
                <a:latin typeface="Calibri"/>
              </a:rPr>
              <a:t>General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0" name="Gráfico 8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61" name="PlaceHolder 2"/>
          <p:cNvSpPr>
            <a:spLocks noGrp="1"/>
          </p:cNvSpPr>
          <p:nvPr>
            <p:ph type="ftr" idx="19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LAB 4.0. LAYOUT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Marcador de texto 2"/>
          <p:cNvSpPr/>
          <p:nvPr/>
        </p:nvSpPr>
        <p:spPr>
          <a:xfrm>
            <a:off x="608040" y="1163160"/>
            <a:ext cx="11048760" cy="495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Calibri"/>
              </a:rPr>
              <a:t>SCRIPTS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From 	GitHub </a:t>
            </a:r>
            <a:r>
              <a:rPr lang="en-US" sz="18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 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Fork the repo: </a:t>
            </a:r>
            <a:r>
              <a:rPr lang="en-US" sz="1800" b="0" u="sng" strike="noStrike" spc="-1">
                <a:solidFill>
                  <a:srgbClr val="000000"/>
                </a:solidFill>
                <a:uFillTx/>
                <a:latin typeface="Calibri"/>
                <a:hlinkClick r:id="rId3"/>
              </a:rPr>
              <a:t>https://github.com/pascualmunoz/cifoin-lab4.git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Clone the repo using VSCode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Open folder / repo in VSCode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Open terminal: uv sync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Run the Jupyter Notebook: 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LAYOUT_STUDENT.ipynb 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FF0000"/>
                </a:solidFill>
                <a:latin typeface="Calibri"/>
              </a:rPr>
              <a:t>Points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algn="just" defTabSz="91440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FF0000"/>
                </a:solidFill>
                <a:latin typeface="Calibri"/>
              </a:rPr>
              <a:t>LO1: 3 points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algn="just" defTabSz="91440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FF0000"/>
                </a:solidFill>
                <a:latin typeface="Calibri"/>
              </a:rPr>
              <a:t>LO2: 3 points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algn="just" defTabSz="91440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FF0000"/>
                </a:solidFill>
                <a:latin typeface="Calibri"/>
              </a:rPr>
              <a:t>LO3: 1 points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algn="just" defTabSz="91440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FF0000"/>
                </a:solidFill>
                <a:latin typeface="Calibri"/>
              </a:rPr>
              <a:t>LO4: 3 points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55D85C3-9474-4582-97CB-A08A15882E8E}" type="slidenum"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85800" y="408960"/>
            <a:ext cx="1099404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2500" b="1" strike="noStrike" spc="-1">
                <a:solidFill>
                  <a:schemeClr val="dk1"/>
                </a:solidFill>
                <a:latin typeface="Calibri"/>
              </a:rPr>
              <a:t>Learning outcome #1a – Notebook section 1. Technology</a:t>
            </a:r>
            <a:br>
              <a:rPr sz="2500"/>
            </a:br>
            <a:r>
              <a:rPr lang="es-ES" sz="2000" b="0" i="1" strike="noStrike" spc="-7">
                <a:solidFill>
                  <a:schemeClr val="dk1"/>
                </a:solidFill>
                <a:latin typeface="Calibri"/>
              </a:rPr>
              <a:t>“We will work with the demo UPVfab PDK. Let's view the layer distribution of this PDK”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4" name="Gráfico 8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65" name="PlaceHolder 2"/>
          <p:cNvSpPr>
            <a:spLocks noGrp="1"/>
          </p:cNvSpPr>
          <p:nvPr>
            <p:ph type="ftr" idx="20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LAB 4.0. LAYOUT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CuadroTexto 1"/>
          <p:cNvSpPr/>
          <p:nvPr/>
        </p:nvSpPr>
        <p:spPr>
          <a:xfrm>
            <a:off x="609480" y="4860360"/>
            <a:ext cx="11199600" cy="95265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Un PDK (Process Design Kit) es un conjunto de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herramientas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archivos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documentación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proporcionado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fundición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fabricante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semiconductores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facilitar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el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diseño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y la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fabricación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circuitos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fotónicos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integrados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 Su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finalidad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es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asegurar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el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diseño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cumpla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las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reglas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del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proceso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y sea compatible con un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flujo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fabricación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0" strike="noStrike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concreto</a:t>
            </a:r>
            <a:r>
              <a:rPr lang="en-US" sz="1400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Las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capas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de un </a:t>
            </a:r>
            <a:r>
              <a:rPr lang="en-US" sz="1400" i="1" spc="-1" dirty="0">
                <a:solidFill>
                  <a:schemeClr val="dk1"/>
                </a:solidFill>
                <a:ea typeface="+mn-lt"/>
                <a:cs typeface="+mn-lt"/>
              </a:rPr>
              <a:t>layout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en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un PDK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representan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las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distintas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máscaras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del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proceso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de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fabricación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,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mientras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que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otras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capas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se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usan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solo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como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anotaciones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internas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 del </a:t>
            </a:r>
            <a:r>
              <a:rPr lang="en-US" sz="1400" spc="-1" dirty="0" err="1">
                <a:solidFill>
                  <a:schemeClr val="dk1"/>
                </a:solidFill>
                <a:ea typeface="+mn-lt"/>
                <a:cs typeface="+mn-lt"/>
              </a:rPr>
              <a:t>diseñador</a:t>
            </a:r>
            <a:r>
              <a:rPr lang="en-US" sz="1400" spc="-1" dirty="0">
                <a:solidFill>
                  <a:schemeClr val="dk1"/>
                </a:solidFill>
                <a:ea typeface="+mn-lt"/>
                <a:cs typeface="+mn-lt"/>
              </a:rPr>
              <a:t>. </a:t>
            </a:r>
            <a:endParaRPr lang="es-ES" dirty="0">
              <a:solidFill>
                <a:schemeClr val="dk1"/>
              </a:solidFill>
              <a:ea typeface="+mn-lt"/>
              <a:cs typeface="+mn-lt"/>
            </a:endParaRPr>
          </a:p>
        </p:txBody>
      </p:sp>
      <p:sp>
        <p:nvSpPr>
          <p:cNvPr id="67" name="Rectángulo 5"/>
          <p:cNvSpPr/>
          <p:nvPr/>
        </p:nvSpPr>
        <p:spPr>
          <a:xfrm>
            <a:off x="609480" y="1418400"/>
            <a:ext cx="5332320" cy="3305520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ángulo 7"/>
          <p:cNvSpPr/>
          <p:nvPr/>
        </p:nvSpPr>
        <p:spPr>
          <a:xfrm>
            <a:off x="6476760" y="1420560"/>
            <a:ext cx="5332320" cy="3305520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9" name="Imagen 68"/>
          <p:cNvPicPr/>
          <p:nvPr/>
        </p:nvPicPr>
        <p:blipFill>
          <a:blip r:embed="rId4"/>
          <a:stretch/>
        </p:blipFill>
        <p:spPr>
          <a:xfrm>
            <a:off x="7020000" y="1566720"/>
            <a:ext cx="4140000" cy="3125160"/>
          </a:xfrm>
          <a:prstGeom prst="rect">
            <a:avLst/>
          </a:prstGeom>
          <a:ln w="0">
            <a:noFill/>
          </a:ln>
        </p:spPr>
      </p:pic>
      <p:pic>
        <p:nvPicPr>
          <p:cNvPr id="70" name="Imagen 69"/>
          <p:cNvPicPr/>
          <p:nvPr/>
        </p:nvPicPr>
        <p:blipFill>
          <a:blip r:embed="rId5"/>
          <a:stretch/>
        </p:blipFill>
        <p:spPr>
          <a:xfrm>
            <a:off x="1260000" y="2520000"/>
            <a:ext cx="4190760" cy="10285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9EE443E-EF32-47EA-83C4-6B293B8C1F1D}" type="slidenum"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85800" y="408960"/>
            <a:ext cx="1099404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2500" b="1" strike="noStrike" spc="-1">
                <a:solidFill>
                  <a:schemeClr val="dk1"/>
                </a:solidFill>
                <a:latin typeface="Calibri"/>
              </a:rPr>
              <a:t>Learning outcome #1a – Notebook section 1. Technology</a:t>
            </a:r>
            <a:br>
              <a:rPr sz="2500"/>
            </a:br>
            <a:r>
              <a:rPr lang="es-ES" sz="2000" b="0" i="1" strike="noStrike" spc="-7">
                <a:solidFill>
                  <a:schemeClr val="dk1"/>
                </a:solidFill>
                <a:latin typeface="Calibri"/>
              </a:rPr>
              <a:t>Number of the following layers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2" name="Gráfico 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73" name="PlaceHolder 2"/>
          <p:cNvSpPr>
            <a:spLocks noGrp="1"/>
          </p:cNvSpPr>
          <p:nvPr>
            <p:ph type="ftr" idx="21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LAB 4.0. LAYOUT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CuadroTexto 2"/>
          <p:cNvSpPr/>
          <p:nvPr/>
        </p:nvSpPr>
        <p:spPr>
          <a:xfrm>
            <a:off x="681366" y="1418400"/>
            <a:ext cx="11127714" cy="378932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spc="-1" dirty="0">
                <a:solidFill>
                  <a:schemeClr val="dk1"/>
                </a:solidFill>
                <a:latin typeface="Arial"/>
              </a:rPr>
              <a:t>En el PDK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utilizado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en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la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práctica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aparecen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las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siguientes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capas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:</a:t>
            </a:r>
            <a:endParaRPr lang="es-ES" sz="1200" spc="-1">
              <a:solidFill>
                <a:schemeClr val="dk1"/>
              </a:solidFill>
              <a:latin typeface="Arial"/>
            </a:endParaRPr>
          </a:p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en-US" sz="1200" spc="-1" dirty="0">
                <a:solidFill>
                  <a:schemeClr val="dk1"/>
                </a:solidFill>
                <a:latin typeface="Arial"/>
              </a:rPr>
              <a:t>WG (1/0):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núcleo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silicio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de 220 nm,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capa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guía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principal para el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confinamiento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óptico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.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Usado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como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núcleo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de la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guía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onda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.</a:t>
            </a:r>
            <a:endParaRPr lang="en-US" sz="1200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marL="171450" indent="-17145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200" spc="-1" dirty="0">
                <a:solidFill>
                  <a:schemeClr val="dk1"/>
                </a:solidFill>
                <a:latin typeface="Arial"/>
              </a:rPr>
              <a:t>HEATER (4/0): 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núcleo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silicio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de 220 nm. Define la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guía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onda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principal.</a:t>
            </a:r>
            <a:endParaRPr lang="en-US" sz="1200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marL="171450" indent="-17145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200" spc="-1" dirty="0">
                <a:solidFill>
                  <a:schemeClr val="dk1"/>
                </a:solidFill>
                <a:latin typeface="Arial"/>
              </a:rPr>
              <a:t>SLAB (21/0): Slab de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silicio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de 150 nm,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usado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para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grabado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superficial de 70 nm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en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i="1" spc="-1" dirty="0">
                <a:solidFill>
                  <a:schemeClr val="dk1"/>
                </a:solidFill>
                <a:latin typeface="Arial"/>
              </a:rPr>
              <a:t>grating couplers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.</a:t>
            </a:r>
            <a:endParaRPr lang="es-ES" sz="1200" spc="-1">
              <a:solidFill>
                <a:schemeClr val="dk1"/>
              </a:solidFill>
              <a:latin typeface="Arial"/>
            </a:endParaRPr>
          </a:p>
          <a:p>
            <a:pPr marL="171450" indent="-17145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200" spc="-1" dirty="0">
                <a:solidFill>
                  <a:schemeClr val="dk1"/>
                </a:solidFill>
                <a:latin typeface="Arial"/>
              </a:rPr>
              <a:t>PAD (41/0): pad de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contacto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eléctrico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. Primera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capa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interconexión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eléctrica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para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llevar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señales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a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calentadores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o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contactos</a:t>
            </a:r>
            <a:endParaRPr lang="es-ES" sz="1200" spc="-1">
              <a:solidFill>
                <a:schemeClr val="dk1"/>
              </a:solidFill>
              <a:latin typeface="Arial"/>
            </a:endParaRPr>
          </a:p>
          <a:p>
            <a:pPr marL="171450" indent="-17145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200" spc="-1" dirty="0">
                <a:solidFill>
                  <a:schemeClr val="dk1"/>
                </a:solidFill>
                <a:latin typeface="Arial"/>
              </a:rPr>
              <a:t>FLOORPLAN (99/0):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Según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apuntes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64/0, contorno del chip; define el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área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reservada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y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ayuda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en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colocación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, </a:t>
            </a:r>
            <a:r>
              <a:rPr lang="en-US" sz="1200" i="1" spc="-1" dirty="0">
                <a:solidFill>
                  <a:schemeClr val="dk1"/>
                </a:solidFill>
                <a:latin typeface="Arial"/>
              </a:rPr>
              <a:t>routing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y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verificación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DRC</a:t>
            </a:r>
            <a:endParaRPr lang="es-ES" sz="1200" spc="-1">
              <a:solidFill>
                <a:schemeClr val="dk1"/>
              </a:solidFill>
              <a:latin typeface="Arial"/>
            </a:endParaRPr>
          </a:p>
          <a:p>
            <a:pPr marL="171450" indent="-17145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200" spc="-1" dirty="0">
                <a:solidFill>
                  <a:schemeClr val="dk1"/>
                </a:solidFill>
                <a:latin typeface="Arial"/>
              </a:rPr>
              <a:t>LABEL_SETTINGS (100/0):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capa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anotación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no fabricable. Guarda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texto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/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marcado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;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añade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identificadores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y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anotaciones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para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trazabilidad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del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diseño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.</a:t>
            </a:r>
            <a:endParaRPr lang="es-ES" sz="1200" spc="-1">
              <a:solidFill>
                <a:schemeClr val="dk1"/>
              </a:solidFill>
              <a:latin typeface="Arial"/>
            </a:endParaRPr>
          </a:p>
          <a:p>
            <a:pPr marL="171450" indent="-17145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200" spc="-1" dirty="0">
                <a:solidFill>
                  <a:schemeClr val="dk1"/>
                </a:solidFill>
                <a:latin typeface="Arial"/>
              </a:rPr>
              <a:t>LABEL_INSTANCE (101/0):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capa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anotación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no fabricable.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Contiene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los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nombres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de las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instancias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colocadas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,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útil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para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revisar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jerarquía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y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referencias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latin typeface="Arial"/>
              </a:rPr>
              <a:t>ruteo</a:t>
            </a:r>
            <a:r>
              <a:rPr lang="en-US" sz="1200" spc="-1" dirty="0">
                <a:solidFill>
                  <a:schemeClr val="dk1"/>
                </a:solidFill>
                <a:latin typeface="Arial"/>
              </a:rPr>
              <a:t>.</a:t>
            </a:r>
            <a:endParaRPr lang="es-ES" sz="1200" spc="-1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CE4B855-5CB4-4D04-BB88-CEA088DD9024}" type="slidenum"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85800" y="408960"/>
            <a:ext cx="10994040" cy="13233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065" algn="just">
              <a:lnSpc>
                <a:spcPct val="100000"/>
              </a:lnSpc>
              <a:spcBef>
                <a:spcPts val="99"/>
              </a:spcBef>
            </a:pPr>
            <a:r>
              <a:rPr lang="en-US" sz="2500" b="1" strike="noStrike" spc="-1">
                <a:solidFill>
                  <a:schemeClr val="dk1"/>
                </a:solidFill>
                <a:latin typeface="Calibri"/>
              </a:rPr>
              <a:t>Learning outcome #1b – Notebook section 1. Technology – </a:t>
            </a:r>
            <a:r>
              <a:rPr lang="en-US" sz="2500" b="1" spc="-1">
                <a:solidFill>
                  <a:schemeClr val="dk1"/>
                </a:solidFill>
                <a:latin typeface="Calibri"/>
              </a:rPr>
              <a:t> Directional Coupler</a:t>
            </a:r>
            <a:br>
              <a:rPr sz="2500" dirty="0"/>
            </a:br>
            <a:endParaRPr lang="en-US" sz="1800" b="0" i="1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6" name="Gráfico 8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77" name="PlaceHolder 2"/>
          <p:cNvSpPr>
            <a:spLocks noGrp="1"/>
          </p:cNvSpPr>
          <p:nvPr>
            <p:ph type="ftr" idx="22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LAB 4.0. LAYOUT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CuadroTexto 1"/>
          <p:cNvSpPr/>
          <p:nvPr/>
        </p:nvSpPr>
        <p:spPr>
          <a:xfrm>
            <a:off x="609480" y="4860360"/>
            <a:ext cx="11199600" cy="82954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/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Este es 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acoplador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direccional que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diseñamos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el Lab 2; es un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acoplador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2x2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basado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acoplamiento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evanescente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entre dos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guías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onda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paralelas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, 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con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una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constante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acoplamiento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objetivo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K=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0.5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para un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reparto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50:50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.</a:t>
            </a:r>
            <a:endParaRPr lang="en-US" sz="1200" spc="-1" dirty="0">
              <a:solidFill>
                <a:schemeClr val="dk1"/>
              </a:solidFill>
              <a:ea typeface="+mn-lt"/>
              <a:cs typeface="+mn-lt"/>
            </a:endParaRPr>
          </a:p>
          <a:p>
            <a:pPr algn="just"/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La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geometría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referencia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para 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caso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base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usa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un ancho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guía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= 1.0 µm y un gap = 0.6 µm, lo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que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da Lπ=58.778 µm y,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por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tanto, L50:50 =29.389 µm.</a:t>
            </a:r>
            <a:endParaRPr lang="en-US" dirty="0">
              <a:solidFill>
                <a:schemeClr val="dk1"/>
              </a:solidFill>
            </a:endParaRPr>
          </a:p>
          <a:p>
            <a:pPr algn="just"/>
            <a:endParaRPr lang="es-ES" sz="12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9" name="Rectángulo 5"/>
          <p:cNvSpPr/>
          <p:nvPr/>
        </p:nvSpPr>
        <p:spPr>
          <a:xfrm>
            <a:off x="609480" y="1418400"/>
            <a:ext cx="5332320" cy="3305520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CuadroTexto 6"/>
          <p:cNvSpPr/>
          <p:nvPr/>
        </p:nvSpPr>
        <p:spPr>
          <a:xfrm>
            <a:off x="2262960" y="2494440"/>
            <a:ext cx="202536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Component code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ángulo 7"/>
          <p:cNvSpPr/>
          <p:nvPr/>
        </p:nvSpPr>
        <p:spPr>
          <a:xfrm>
            <a:off x="6476760" y="1420560"/>
            <a:ext cx="5332320" cy="3305520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CuadroTexto 8"/>
          <p:cNvSpPr/>
          <p:nvPr/>
        </p:nvSpPr>
        <p:spPr>
          <a:xfrm>
            <a:off x="7799040" y="2496240"/>
            <a:ext cx="26881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Component screenshot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835AC6A-9D5A-4820-87B2-8A6743FE08E4}" type="slidenum">
              <a:t>5</a:t>
            </a:fld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283D88C-1011-69DB-F48E-453BCD29EE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62" t="1314" r="-380" b="-516"/>
          <a:stretch>
            <a:fillRect/>
          </a:stretch>
        </p:blipFill>
        <p:spPr>
          <a:xfrm>
            <a:off x="7453494" y="1953337"/>
            <a:ext cx="3697270" cy="277228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B26E886-EF86-C847-19CE-581A51000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609" y="2165140"/>
            <a:ext cx="5337235" cy="18376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DEA3E-8C40-48E1-96B2-E2730068B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>
            <a:extLst>
              <a:ext uri="{FF2B5EF4-FFF2-40B4-BE49-F238E27FC236}">
                <a16:creationId xmlns:a16="http://schemas.microsoft.com/office/drawing/2014/main" id="{8470F98D-BA69-1E4D-E472-D7E7CCD75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8960"/>
            <a:ext cx="10994040" cy="13233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065" algn="just">
              <a:lnSpc>
                <a:spcPct val="100000"/>
              </a:lnSpc>
              <a:spcBef>
                <a:spcPts val="99"/>
              </a:spcBef>
            </a:pPr>
            <a:r>
              <a:rPr lang="en-US" sz="2500" b="1" strike="noStrike" spc="-1" dirty="0">
                <a:solidFill>
                  <a:schemeClr val="dk1"/>
                </a:solidFill>
                <a:latin typeface="Calibri"/>
              </a:rPr>
              <a:t>Learning outcome #1b – Notebook section 1. Technology – </a:t>
            </a:r>
            <a:r>
              <a:rPr lang="en-US" sz="2500" b="1" spc="-1" dirty="0">
                <a:solidFill>
                  <a:srgbClr val="FF0000"/>
                </a:solidFill>
                <a:latin typeface="Calibri"/>
              </a:rPr>
              <a:t>MMI 2x2</a:t>
            </a:r>
            <a:endParaRPr lang="es-ES" sz="2500" strike="noStrike" dirty="0"/>
          </a:p>
        </p:txBody>
      </p:sp>
      <p:pic>
        <p:nvPicPr>
          <p:cNvPr id="76" name="Gráfico 82">
            <a:extLst>
              <a:ext uri="{FF2B5EF4-FFF2-40B4-BE49-F238E27FC236}">
                <a16:creationId xmlns:a16="http://schemas.microsoft.com/office/drawing/2014/main" id="{489F111F-7063-7908-5A17-3BDE3CD41A4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77" name="PlaceHolder 2">
            <a:extLst>
              <a:ext uri="{FF2B5EF4-FFF2-40B4-BE49-F238E27FC236}">
                <a16:creationId xmlns:a16="http://schemas.microsoft.com/office/drawing/2014/main" id="{C43E2C53-515B-4915-C3DF-F819376CBBF0}"/>
              </a:ext>
            </a:extLst>
          </p:cNvPr>
          <p:cNvSpPr>
            <a:spLocks noGrp="1"/>
          </p:cNvSpPr>
          <p:nvPr>
            <p:ph type="ftr" idx="22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LAB 4.0. LAYOUT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CuadroTexto 1">
            <a:extLst>
              <a:ext uri="{FF2B5EF4-FFF2-40B4-BE49-F238E27FC236}">
                <a16:creationId xmlns:a16="http://schemas.microsoft.com/office/drawing/2014/main" id="{D8AC2404-9FE6-DD69-1EB8-33931E80F5E7}"/>
              </a:ext>
            </a:extLst>
          </p:cNvPr>
          <p:cNvSpPr/>
          <p:nvPr/>
        </p:nvSpPr>
        <p:spPr>
          <a:xfrm>
            <a:off x="609480" y="4860360"/>
            <a:ext cx="11199600" cy="138354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/>
            <a:r>
              <a:rPr lang="en-US" sz="1200" b="1" spc="-1" dirty="0">
                <a:solidFill>
                  <a:schemeClr val="dk1"/>
                </a:solidFill>
                <a:ea typeface="+mn-lt"/>
                <a:cs typeface="+mn-lt"/>
              </a:rPr>
              <a:t>M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MI 2x2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. 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Este es el 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MMI 2x2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que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diseñamos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el Lab 2;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utiliza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interferencia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modal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pareada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y la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condición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objetivo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acoplamiento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es 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K=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0.5K=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0.5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, es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decir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, un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reparto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balanceado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potencia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.</a:t>
            </a:r>
            <a:endParaRPr lang="es-ES" sz="1200">
              <a:solidFill>
                <a:schemeClr val="dk1"/>
              </a:solidFill>
              <a:ea typeface="+mn-lt"/>
              <a:cs typeface="+mn-lt"/>
            </a:endParaRPr>
          </a:p>
          <a:p>
            <a:pPr algn="just"/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La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geometría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optimizada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reportada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para 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diseño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final es WMMI=6.6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 µm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, LMMI=34.518 µm, con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posiciones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las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guías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entrada/salida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±0.1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 µm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respecto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al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centro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la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configuración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intermedia.</a:t>
            </a:r>
            <a:endParaRPr lang="en-US" sz="1200">
              <a:solidFill>
                <a:schemeClr val="dk1"/>
              </a:solidFill>
              <a:ea typeface="Calibri"/>
              <a:cs typeface="Calibri"/>
            </a:endParaRPr>
          </a:p>
          <a:p>
            <a:pPr algn="just"/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Tras la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optimización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, las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notas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del Lab 2 también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muestran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una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versión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refinada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con ancho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guía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I/O 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= 1.0 µm y LMMI=34.518 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µm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,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alcanzando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un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reparto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casi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perfecto 0.5108 / 0.4892 y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una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pérdida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exceso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baja.</a:t>
            </a:r>
            <a:endParaRPr lang="es-ES" sz="1200">
              <a:solidFill>
                <a:schemeClr val="dk1"/>
              </a:solidFill>
              <a:ea typeface="Calibri"/>
              <a:cs typeface="Calibri"/>
            </a:endParaRPr>
          </a:p>
          <a:p>
            <a:pPr algn="just" defTabSz="914400">
              <a:lnSpc>
                <a:spcPct val="100000"/>
              </a:lnSpc>
            </a:pP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ángulo 5">
            <a:extLst>
              <a:ext uri="{FF2B5EF4-FFF2-40B4-BE49-F238E27FC236}">
                <a16:creationId xmlns:a16="http://schemas.microsoft.com/office/drawing/2014/main" id="{1BA68403-A3B4-E44C-957F-B6442C15C765}"/>
              </a:ext>
            </a:extLst>
          </p:cNvPr>
          <p:cNvSpPr/>
          <p:nvPr/>
        </p:nvSpPr>
        <p:spPr>
          <a:xfrm>
            <a:off x="609480" y="1418400"/>
            <a:ext cx="5332320" cy="3305520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ectángulo 7">
            <a:extLst>
              <a:ext uri="{FF2B5EF4-FFF2-40B4-BE49-F238E27FC236}">
                <a16:creationId xmlns:a16="http://schemas.microsoft.com/office/drawing/2014/main" id="{C429A623-00D2-4E7A-4F9E-495DCE1CD310}"/>
              </a:ext>
            </a:extLst>
          </p:cNvPr>
          <p:cNvSpPr/>
          <p:nvPr/>
        </p:nvSpPr>
        <p:spPr>
          <a:xfrm>
            <a:off x="6476760" y="1420560"/>
            <a:ext cx="5332320" cy="3305520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CuadroTexto 8">
            <a:extLst>
              <a:ext uri="{FF2B5EF4-FFF2-40B4-BE49-F238E27FC236}">
                <a16:creationId xmlns:a16="http://schemas.microsoft.com/office/drawing/2014/main" id="{510A7618-A2E2-6F60-89B1-42DF675D33F4}"/>
              </a:ext>
            </a:extLst>
          </p:cNvPr>
          <p:cNvSpPr/>
          <p:nvPr/>
        </p:nvSpPr>
        <p:spPr>
          <a:xfrm>
            <a:off x="7799040" y="2496240"/>
            <a:ext cx="26881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Component screenshot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3CB5B097-DA97-88A0-0124-8030B3AEE1D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835AC6A-9D5A-4820-87B2-8A6743FE08E4}" type="slidenum">
              <a:t>6</a:t>
            </a:fld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685FB40-03A6-D26D-23BC-7966060AF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345" y="1982997"/>
            <a:ext cx="5175311" cy="231691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BBA416A-E2A5-764A-76D2-4E85A38DD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6952" y="2246912"/>
            <a:ext cx="33147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862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7A2E-1716-5C3B-6EA2-97201DECC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>
            <a:extLst>
              <a:ext uri="{FF2B5EF4-FFF2-40B4-BE49-F238E27FC236}">
                <a16:creationId xmlns:a16="http://schemas.microsoft.com/office/drawing/2014/main" id="{CC57CF1D-4AD4-AC8F-D80A-DE58C97D6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8960"/>
            <a:ext cx="10994040" cy="13233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065" algn="just">
              <a:lnSpc>
                <a:spcPct val="100000"/>
              </a:lnSpc>
              <a:spcBef>
                <a:spcPts val="99"/>
              </a:spcBef>
            </a:pPr>
            <a:r>
              <a:rPr lang="en-US" sz="2500" b="1" strike="noStrike" spc="-1" dirty="0">
                <a:solidFill>
                  <a:schemeClr val="dk1"/>
                </a:solidFill>
                <a:latin typeface="Calibri"/>
              </a:rPr>
              <a:t>Learning outcome #1b – Notebook section 1. Technology – </a:t>
            </a:r>
            <a:r>
              <a:rPr lang="en-US" sz="2500" b="1" spc="-1">
                <a:solidFill>
                  <a:srgbClr val="FF0000"/>
                </a:solidFill>
                <a:latin typeface="Calibri"/>
              </a:rPr>
              <a:t>MZI</a:t>
            </a:r>
            <a:endParaRPr lang="es-ES" sz="2500" strike="noStrike" dirty="0"/>
          </a:p>
        </p:txBody>
      </p:sp>
      <p:pic>
        <p:nvPicPr>
          <p:cNvPr id="76" name="Gráfico 82">
            <a:extLst>
              <a:ext uri="{FF2B5EF4-FFF2-40B4-BE49-F238E27FC236}">
                <a16:creationId xmlns:a16="http://schemas.microsoft.com/office/drawing/2014/main" id="{BD913413-9868-1ABE-C3BF-E9196863DB0D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77" name="PlaceHolder 2">
            <a:extLst>
              <a:ext uri="{FF2B5EF4-FFF2-40B4-BE49-F238E27FC236}">
                <a16:creationId xmlns:a16="http://schemas.microsoft.com/office/drawing/2014/main" id="{A579B1E4-8036-9EBB-A375-34D00D333C1D}"/>
              </a:ext>
            </a:extLst>
          </p:cNvPr>
          <p:cNvSpPr>
            <a:spLocks noGrp="1"/>
          </p:cNvSpPr>
          <p:nvPr>
            <p:ph type="ftr" idx="22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LAB 4.0. LAYOUT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CuadroTexto 1">
            <a:extLst>
              <a:ext uri="{FF2B5EF4-FFF2-40B4-BE49-F238E27FC236}">
                <a16:creationId xmlns:a16="http://schemas.microsoft.com/office/drawing/2014/main" id="{62855719-A956-6937-BF0D-20BA295C7EB3}"/>
              </a:ext>
            </a:extLst>
          </p:cNvPr>
          <p:cNvSpPr/>
          <p:nvPr/>
        </p:nvSpPr>
        <p:spPr>
          <a:xfrm>
            <a:off x="609480" y="4860360"/>
            <a:ext cx="11199600" cy="82954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/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Este es el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interferómetro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Mach-Zehnder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construido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en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el Lab 3,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usando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dos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acopladores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50:50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como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divisores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/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combinadores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de entrada y salida</a:t>
            </a:r>
            <a:r>
              <a:rPr lang="en-US" sz="1200" strike="noStrike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.</a:t>
            </a:r>
            <a:endParaRPr lang="es-ES" sz="1200">
              <a:solidFill>
                <a:schemeClr val="dk1"/>
              </a:solidFill>
              <a:latin typeface="Arial"/>
              <a:ea typeface="+mn-lt"/>
              <a:cs typeface="Arial"/>
            </a:endParaRPr>
          </a:p>
          <a:p>
            <a:pPr algn="just"/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Para el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caso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perfectamente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balanceado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, las dos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ramas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tienen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ΔL=0</a:t>
            </a:r>
            <a:r>
              <a:rPr lang="en-US" sz="1200" strike="noStrike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,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así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que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ambas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acumulan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la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misma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fase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y las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salidas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bar/cross se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vuelven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complementarias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;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en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el notebook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esto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se describe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como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interferencia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destructiva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ideal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en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un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puerto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y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constructiva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en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el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otro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.</a:t>
            </a:r>
            <a:endParaRPr lang="en-US" sz="1200">
              <a:solidFill>
                <a:schemeClr val="dk1"/>
              </a:solidFill>
              <a:latin typeface="Arial"/>
              <a:ea typeface="Calibri"/>
              <a:cs typeface="Arial"/>
            </a:endParaRPr>
          </a:p>
          <a:p>
            <a:pPr algn="just"/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Para el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ejemplo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diseño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con un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objetivo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de FSR</a:t>
            </a:r>
            <a:r>
              <a:rPr lang="en-US" sz="1200" strike="noStrike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, 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la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diferencia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longitud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de las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ramas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es ΔL</a:t>
            </a:r>
            <a:r>
              <a:rPr lang="en-US" sz="1200" strike="noStrike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=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600.625</a:t>
            </a:r>
            <a:r>
              <a:rPr lang="en-US" sz="1200" strike="noStrike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para FSR </a:t>
            </a:r>
            <a:r>
              <a:rPr lang="en-US" sz="1200" strike="noStrike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= 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2 nm a 1550 nm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en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el </a:t>
            </a:r>
            <a:r>
              <a:rPr lang="en-US" sz="12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caso</a:t>
            </a:r>
            <a:r>
              <a:rPr lang="en-US" sz="12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ideal.</a:t>
            </a:r>
            <a:endParaRPr lang="en-US" sz="1200" b="0" strike="noStrike" spc="-1" dirty="0">
              <a:solidFill>
                <a:schemeClr val="dk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9" name="Rectángulo 5">
            <a:extLst>
              <a:ext uri="{FF2B5EF4-FFF2-40B4-BE49-F238E27FC236}">
                <a16:creationId xmlns:a16="http://schemas.microsoft.com/office/drawing/2014/main" id="{ACDD3E80-9326-FA9B-2F73-A847B2B6E069}"/>
              </a:ext>
            </a:extLst>
          </p:cNvPr>
          <p:cNvSpPr/>
          <p:nvPr/>
        </p:nvSpPr>
        <p:spPr>
          <a:xfrm>
            <a:off x="609480" y="1418400"/>
            <a:ext cx="5332320" cy="3305520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CuadroTexto 6">
            <a:extLst>
              <a:ext uri="{FF2B5EF4-FFF2-40B4-BE49-F238E27FC236}">
                <a16:creationId xmlns:a16="http://schemas.microsoft.com/office/drawing/2014/main" id="{25B5FC88-E1E7-BC54-B1EA-470AC7673B8C}"/>
              </a:ext>
            </a:extLst>
          </p:cNvPr>
          <p:cNvSpPr/>
          <p:nvPr/>
        </p:nvSpPr>
        <p:spPr>
          <a:xfrm>
            <a:off x="2262960" y="2494440"/>
            <a:ext cx="202536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Component code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ángulo 7">
            <a:extLst>
              <a:ext uri="{FF2B5EF4-FFF2-40B4-BE49-F238E27FC236}">
                <a16:creationId xmlns:a16="http://schemas.microsoft.com/office/drawing/2014/main" id="{ED616C41-6A09-DCFC-191D-10AE6DA27928}"/>
              </a:ext>
            </a:extLst>
          </p:cNvPr>
          <p:cNvSpPr/>
          <p:nvPr/>
        </p:nvSpPr>
        <p:spPr>
          <a:xfrm>
            <a:off x="6476760" y="1420560"/>
            <a:ext cx="5332320" cy="3305520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CuadroTexto 8">
            <a:extLst>
              <a:ext uri="{FF2B5EF4-FFF2-40B4-BE49-F238E27FC236}">
                <a16:creationId xmlns:a16="http://schemas.microsoft.com/office/drawing/2014/main" id="{9CAEEB63-B61B-CAE7-E8C3-525D70FA3C1B}"/>
              </a:ext>
            </a:extLst>
          </p:cNvPr>
          <p:cNvSpPr/>
          <p:nvPr/>
        </p:nvSpPr>
        <p:spPr>
          <a:xfrm>
            <a:off x="7799040" y="2496240"/>
            <a:ext cx="26881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Component screenshot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F8377C6-5B14-6347-8C62-409738AD7A1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835AC6A-9D5A-4820-87B2-8A6743FE08E4}" type="slidenum">
              <a:t>7</a:t>
            </a:fld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74FBEE0-E8D2-70D0-40E9-BC1F0ECED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39" y="1421471"/>
            <a:ext cx="2473805" cy="313803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570D953-692A-3821-9309-63F86DF40D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7850" y="2045089"/>
            <a:ext cx="272415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0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5C51-1648-79DD-C051-EE1187CE1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>
            <a:extLst>
              <a:ext uri="{FF2B5EF4-FFF2-40B4-BE49-F238E27FC236}">
                <a16:creationId xmlns:a16="http://schemas.microsoft.com/office/drawing/2014/main" id="{5FFAA487-784B-0A16-D8EE-B2DAC428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8960"/>
            <a:ext cx="10994040" cy="13233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065" algn="just">
              <a:lnSpc>
                <a:spcPct val="100000"/>
              </a:lnSpc>
              <a:spcBef>
                <a:spcPts val="99"/>
              </a:spcBef>
            </a:pPr>
            <a:r>
              <a:rPr lang="en-US" sz="2500" b="1" strike="noStrike" spc="-1" dirty="0">
                <a:solidFill>
                  <a:schemeClr val="dk1"/>
                </a:solidFill>
                <a:latin typeface="Calibri"/>
              </a:rPr>
              <a:t>Learning outcome #1b – Notebook section 1. Technology – </a:t>
            </a:r>
            <a:r>
              <a:rPr lang="en-US" sz="2500" b="1" spc="-1">
                <a:solidFill>
                  <a:srgbClr val="FF0000"/>
                </a:solidFill>
                <a:latin typeface="Calibri"/>
              </a:rPr>
              <a:t>Ring Resonator</a:t>
            </a:r>
            <a:endParaRPr lang="es-ES" sz="2500" strike="noStrike" dirty="0"/>
          </a:p>
        </p:txBody>
      </p:sp>
      <p:pic>
        <p:nvPicPr>
          <p:cNvPr id="76" name="Gráfico 82">
            <a:extLst>
              <a:ext uri="{FF2B5EF4-FFF2-40B4-BE49-F238E27FC236}">
                <a16:creationId xmlns:a16="http://schemas.microsoft.com/office/drawing/2014/main" id="{25C74C69-C7DF-9121-8112-608F50F8692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77" name="PlaceHolder 2">
            <a:extLst>
              <a:ext uri="{FF2B5EF4-FFF2-40B4-BE49-F238E27FC236}">
                <a16:creationId xmlns:a16="http://schemas.microsoft.com/office/drawing/2014/main" id="{DEF59148-6C61-C599-D08E-1C966FC9777E}"/>
              </a:ext>
            </a:extLst>
          </p:cNvPr>
          <p:cNvSpPr>
            <a:spLocks noGrp="1"/>
          </p:cNvSpPr>
          <p:nvPr>
            <p:ph type="ftr" idx="22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LAB 4.0. LAYOUT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CuadroTexto 1">
            <a:extLst>
              <a:ext uri="{FF2B5EF4-FFF2-40B4-BE49-F238E27FC236}">
                <a16:creationId xmlns:a16="http://schemas.microsoft.com/office/drawing/2014/main" id="{6F5DACF3-FF4E-D4D8-E9ED-3FA0D00FC087}"/>
              </a:ext>
            </a:extLst>
          </p:cNvPr>
          <p:cNvSpPr/>
          <p:nvPr/>
        </p:nvSpPr>
        <p:spPr>
          <a:xfrm>
            <a:off x="609480" y="4860360"/>
            <a:ext cx="11199600" cy="101420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/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Este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apartado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debería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replicar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resonador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anillo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simple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estudiado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el Lab 3, con  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modelo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resonador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integrado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más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básico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y un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coeficiente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acoplamiento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constante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K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, 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sin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dependencia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con la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longitud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onda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.</a:t>
            </a:r>
            <a:endParaRPr lang="es-ES" sz="1200">
              <a:solidFill>
                <a:schemeClr val="dk1"/>
              </a:solidFill>
              <a:ea typeface="Calibri"/>
              <a:cs typeface="Calibri"/>
            </a:endParaRPr>
          </a:p>
          <a:p>
            <a:pPr algn="just"/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espaciamiento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entre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resonancias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viene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determinado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por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perímetro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anillo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, 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y 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ejemplo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diseño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para FSR 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= 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15 nm da Lr</a:t>
            </a:r>
            <a:r>
              <a:rPr lang="en-US" sz="1200" strike="noStrike" spc="-1" dirty="0">
                <a:solidFill>
                  <a:schemeClr val="dk1"/>
                </a:solidFill>
                <a:ea typeface="+mn-lt"/>
                <a:cs typeface="+mn-lt"/>
              </a:rPr>
              <a:t>=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80,08µm. Lo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que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daría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un radio del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anillo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12.74 µm,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pero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mínimo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permitido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por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el PDK es de 35  µm lo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que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nos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da un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erímetro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anillo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219.91 µm, y lo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que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baja el FSR a 5,46nm. Este radio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mínimo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está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pensado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para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mantener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las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pérdidas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por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curvatura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por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debajo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un umbral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aceptable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.</a:t>
            </a:r>
          </a:p>
        </p:txBody>
      </p:sp>
      <p:sp>
        <p:nvSpPr>
          <p:cNvPr id="79" name="Rectángulo 5">
            <a:extLst>
              <a:ext uri="{FF2B5EF4-FFF2-40B4-BE49-F238E27FC236}">
                <a16:creationId xmlns:a16="http://schemas.microsoft.com/office/drawing/2014/main" id="{9DA7E06D-0F4D-C2AE-F4BE-0758BA899F54}"/>
              </a:ext>
            </a:extLst>
          </p:cNvPr>
          <p:cNvSpPr/>
          <p:nvPr/>
        </p:nvSpPr>
        <p:spPr>
          <a:xfrm>
            <a:off x="609480" y="1418400"/>
            <a:ext cx="5332320" cy="3305520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ectángulo 7">
            <a:extLst>
              <a:ext uri="{FF2B5EF4-FFF2-40B4-BE49-F238E27FC236}">
                <a16:creationId xmlns:a16="http://schemas.microsoft.com/office/drawing/2014/main" id="{4427F50D-4DD8-CA16-685D-C85827280BAD}"/>
              </a:ext>
            </a:extLst>
          </p:cNvPr>
          <p:cNvSpPr/>
          <p:nvPr/>
        </p:nvSpPr>
        <p:spPr>
          <a:xfrm>
            <a:off x="6476760" y="1420560"/>
            <a:ext cx="5332320" cy="3305520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8F112F0-EE46-98C5-7FA2-E055C6A25CE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835AC6A-9D5A-4820-87B2-8A6743FE08E4}" type="slidenum">
              <a:t>8</a:t>
            </a:fld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4FAAD1-33EE-0114-64DA-237C7B65B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4500" y="2102779"/>
            <a:ext cx="2990850" cy="193357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3B2114A-30CB-DD5A-977D-0794F6061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014" y="1850456"/>
            <a:ext cx="492442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496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85800" y="408960"/>
            <a:ext cx="1099404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065">
              <a:lnSpc>
                <a:spcPct val="100000"/>
              </a:lnSpc>
              <a:spcBef>
                <a:spcPts val="99"/>
              </a:spcBef>
            </a:pPr>
            <a:r>
              <a:rPr lang="en-US" sz="2500" b="1" strike="noStrike" spc="-1" dirty="0">
                <a:solidFill>
                  <a:schemeClr val="dk1"/>
                </a:solidFill>
                <a:latin typeface="Calibri"/>
              </a:rPr>
              <a:t>Learning outcome #2a – Notebook section 2. Layout </a:t>
            </a:r>
            <a:r>
              <a:rPr lang="en-US" sz="2500" b="1" spc="-1" dirty="0">
                <a:solidFill>
                  <a:schemeClr val="dk1"/>
                </a:solidFill>
                <a:latin typeface="Calibri"/>
              </a:rPr>
              <a:t>Fundamentals</a:t>
            </a:r>
            <a:br>
              <a:rPr sz="2500" dirty="0"/>
            </a:br>
            <a:r>
              <a:rPr lang="en-US" sz="1800" i="1" spc="-1" dirty="0">
                <a:solidFill>
                  <a:schemeClr val="dk1"/>
                </a:solidFill>
                <a:latin typeface="Calibri"/>
              </a:rPr>
              <a:t>Directional </a:t>
            </a:r>
            <a:r>
              <a:rPr lang="en-US" sz="1800" i="1" spc="-1" dirty="0" err="1">
                <a:solidFill>
                  <a:schemeClr val="dk1"/>
                </a:solidFill>
                <a:latin typeface="Calibri"/>
              </a:rPr>
              <a:t>CouplerDirectional</a:t>
            </a:r>
            <a:r>
              <a:rPr lang="en-US" sz="1800" i="1" spc="-1" dirty="0">
                <a:solidFill>
                  <a:schemeClr val="dk1"/>
                </a:solidFill>
                <a:latin typeface="Calibri"/>
              </a:rPr>
              <a:t> Coupler​</a:t>
            </a:r>
            <a:endParaRPr lang="en-US" sz="1800" b="0" i="1" strike="noStrike" spc="-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4" name="Gráfico 8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2"/>
          <p:cNvSpPr>
            <a:spLocks noGrp="1"/>
          </p:cNvSpPr>
          <p:nvPr>
            <p:ph type="ftr" idx="23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LAB 4.0. LAYOUT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Rectángulo 5"/>
          <p:cNvSpPr/>
          <p:nvPr/>
        </p:nvSpPr>
        <p:spPr>
          <a:xfrm>
            <a:off x="681366" y="1418400"/>
            <a:ext cx="5260434" cy="4153784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ángulo 7"/>
          <p:cNvSpPr/>
          <p:nvPr/>
        </p:nvSpPr>
        <p:spPr>
          <a:xfrm>
            <a:off x="6476760" y="1420560"/>
            <a:ext cx="5332320" cy="4153784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7EC15BE-B800-4A8B-96C3-4D64A92677F9}" type="slidenum">
              <a:t>9</a:t>
            </a:fld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E8FD1E6-32A9-9BC3-CF38-3A1F5C9EE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196" y="1717376"/>
            <a:ext cx="4767533" cy="364466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37FB6C6-AC63-F958-94EC-88B234F78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650" y="2581994"/>
            <a:ext cx="4400550" cy="1924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B7183-0181-4C54-0591-CE5557F80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>
            <a:extLst>
              <a:ext uri="{FF2B5EF4-FFF2-40B4-BE49-F238E27FC236}">
                <a16:creationId xmlns:a16="http://schemas.microsoft.com/office/drawing/2014/main" id="{97107096-3E4F-23AF-41CA-4F18FC641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8960"/>
            <a:ext cx="1099404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065">
              <a:lnSpc>
                <a:spcPct val="100000"/>
              </a:lnSpc>
              <a:spcBef>
                <a:spcPts val="99"/>
              </a:spcBef>
            </a:pPr>
            <a:r>
              <a:rPr lang="en-US" sz="2500" b="1" strike="noStrike" spc="-1" dirty="0">
                <a:solidFill>
                  <a:schemeClr val="dk1"/>
                </a:solidFill>
                <a:latin typeface="Calibri"/>
              </a:rPr>
              <a:t>Learning outcome #2a – Notebook section 2. Layout </a:t>
            </a:r>
            <a:r>
              <a:rPr lang="en-US" sz="2500" b="1" spc="-1" dirty="0">
                <a:solidFill>
                  <a:schemeClr val="dk1"/>
                </a:solidFill>
                <a:latin typeface="Calibri"/>
              </a:rPr>
              <a:t>Fundamentals</a:t>
            </a:r>
            <a:br>
              <a:rPr sz="2500" dirty="0"/>
            </a:br>
            <a:r>
              <a:rPr lang="en-US" sz="2500" b="1" spc="-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MultiMode</a:t>
            </a:r>
            <a:r>
              <a:rPr lang="en-US" sz="2500" b="1" spc="-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Interferometer 2x2</a:t>
            </a:r>
            <a:endParaRPr lang="en-US" sz="1800" b="0" i="1" strike="noStrike" spc="-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4" name="Gráfico 82">
            <a:extLst>
              <a:ext uri="{FF2B5EF4-FFF2-40B4-BE49-F238E27FC236}">
                <a16:creationId xmlns:a16="http://schemas.microsoft.com/office/drawing/2014/main" id="{F55669A1-3140-FDC0-9B12-256C293B7045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2">
            <a:extLst>
              <a:ext uri="{FF2B5EF4-FFF2-40B4-BE49-F238E27FC236}">
                <a16:creationId xmlns:a16="http://schemas.microsoft.com/office/drawing/2014/main" id="{AED14ECA-0779-CDA4-51EA-9A9F6A451D8E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LAB 4.0. LAYOUT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Rectángulo 5">
            <a:extLst>
              <a:ext uri="{FF2B5EF4-FFF2-40B4-BE49-F238E27FC236}">
                <a16:creationId xmlns:a16="http://schemas.microsoft.com/office/drawing/2014/main" id="{93986C2E-B226-D091-6D4B-33C2A08E9E9B}"/>
              </a:ext>
            </a:extLst>
          </p:cNvPr>
          <p:cNvSpPr/>
          <p:nvPr/>
        </p:nvSpPr>
        <p:spPr>
          <a:xfrm>
            <a:off x="681366" y="1418400"/>
            <a:ext cx="5260434" cy="4153784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ángulo 7">
            <a:extLst>
              <a:ext uri="{FF2B5EF4-FFF2-40B4-BE49-F238E27FC236}">
                <a16:creationId xmlns:a16="http://schemas.microsoft.com/office/drawing/2014/main" id="{A95ABC76-3189-27DA-097B-F64FD48D129D}"/>
              </a:ext>
            </a:extLst>
          </p:cNvPr>
          <p:cNvSpPr/>
          <p:nvPr/>
        </p:nvSpPr>
        <p:spPr>
          <a:xfrm>
            <a:off x="6476760" y="1420560"/>
            <a:ext cx="5332320" cy="4153784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2FF31566-D9A5-4B97-BFDE-999D24F9A01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7EC15BE-B800-4A8B-96C3-4D64A92677F9}" type="slidenum">
              <a:t>10</a:t>
            </a:fld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AF61E7D-F296-0146-4868-C1A47045C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291" y="1717375"/>
            <a:ext cx="4839419" cy="364466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3A7F933-B2AA-0227-526B-74E0E346C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3587" y="2166938"/>
            <a:ext cx="235267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44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B822F-8E9E-CFF6-1A0F-0BB83745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>
            <a:extLst>
              <a:ext uri="{FF2B5EF4-FFF2-40B4-BE49-F238E27FC236}">
                <a16:creationId xmlns:a16="http://schemas.microsoft.com/office/drawing/2014/main" id="{40856828-0B08-330C-968C-C048C17BC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8960"/>
            <a:ext cx="1099404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065">
              <a:lnSpc>
                <a:spcPct val="100000"/>
              </a:lnSpc>
              <a:spcBef>
                <a:spcPts val="99"/>
              </a:spcBef>
            </a:pPr>
            <a:r>
              <a:rPr lang="en-US" sz="2500" b="1" strike="noStrike" spc="-1">
                <a:solidFill>
                  <a:schemeClr val="dk1"/>
                </a:solidFill>
                <a:latin typeface="Calibri"/>
              </a:rPr>
              <a:t>Learning outcome #2a – Notebook section 2. Layout </a:t>
            </a:r>
            <a:r>
              <a:rPr lang="en-US" sz="2500" b="1" spc="-1">
                <a:solidFill>
                  <a:schemeClr val="dk1"/>
                </a:solidFill>
                <a:latin typeface="Calibri"/>
              </a:rPr>
              <a:t>Fundamentals</a:t>
            </a:r>
            <a:br>
              <a:rPr sz="2500" dirty="0"/>
            </a:br>
            <a:r>
              <a:rPr lang="en-US" sz="1800" i="1" spc="-1" dirty="0">
                <a:solidFill>
                  <a:schemeClr val="dk1"/>
                </a:solidFill>
                <a:latin typeface="Calibri"/>
              </a:rPr>
              <a:t> Mach Zender Interferometer​</a:t>
            </a:r>
            <a:endParaRPr lang="en-US" sz="1800" b="0" i="1" strike="noStrike" spc="-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4" name="Gráfico 82">
            <a:extLst>
              <a:ext uri="{FF2B5EF4-FFF2-40B4-BE49-F238E27FC236}">
                <a16:creationId xmlns:a16="http://schemas.microsoft.com/office/drawing/2014/main" id="{98052E43-EF4B-19B7-7040-C2865F3FA9F1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2">
            <a:extLst>
              <a:ext uri="{FF2B5EF4-FFF2-40B4-BE49-F238E27FC236}">
                <a16:creationId xmlns:a16="http://schemas.microsoft.com/office/drawing/2014/main" id="{47E9140F-C3FA-B8E0-A9A3-140C79469E27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LAB 4.0. LAYOUT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Rectángulo 5">
            <a:extLst>
              <a:ext uri="{FF2B5EF4-FFF2-40B4-BE49-F238E27FC236}">
                <a16:creationId xmlns:a16="http://schemas.microsoft.com/office/drawing/2014/main" id="{9225FE3E-2060-1DFC-D45C-7A886BDF146F}"/>
              </a:ext>
            </a:extLst>
          </p:cNvPr>
          <p:cNvSpPr/>
          <p:nvPr/>
        </p:nvSpPr>
        <p:spPr>
          <a:xfrm>
            <a:off x="681366" y="1418400"/>
            <a:ext cx="5260434" cy="4153784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ángulo 7">
            <a:extLst>
              <a:ext uri="{FF2B5EF4-FFF2-40B4-BE49-F238E27FC236}">
                <a16:creationId xmlns:a16="http://schemas.microsoft.com/office/drawing/2014/main" id="{4B06CFF5-EE57-944E-D6EE-B3211AE8FAD4}"/>
              </a:ext>
            </a:extLst>
          </p:cNvPr>
          <p:cNvSpPr/>
          <p:nvPr/>
        </p:nvSpPr>
        <p:spPr>
          <a:xfrm>
            <a:off x="6476760" y="1420560"/>
            <a:ext cx="5332320" cy="4153784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CuadroTexto 8">
            <a:extLst>
              <a:ext uri="{FF2B5EF4-FFF2-40B4-BE49-F238E27FC236}">
                <a16:creationId xmlns:a16="http://schemas.microsoft.com/office/drawing/2014/main" id="{90614E5E-BB29-D7ED-A2E8-B60C908042FC}"/>
              </a:ext>
            </a:extLst>
          </p:cNvPr>
          <p:cNvSpPr/>
          <p:nvPr/>
        </p:nvSpPr>
        <p:spPr>
          <a:xfrm>
            <a:off x="8400240" y="2496240"/>
            <a:ext cx="14857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Example die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 screenshot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3C36958A-FE04-28C7-6D00-82EDCD926D3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7EC15BE-B800-4A8B-96C3-4D64A92677F9}" type="slidenum">
              <a:t>11</a:t>
            </a:fld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B8ACC9B-E534-E587-44B0-560532E39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668" y="1717375"/>
            <a:ext cx="4839419" cy="364466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028C3EE-EC74-1D48-1B4E-6059434D5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240" y="2308555"/>
            <a:ext cx="2689105" cy="224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78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1DD47-E6C9-3D9A-1BE6-28BBA6C5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>
            <a:extLst>
              <a:ext uri="{FF2B5EF4-FFF2-40B4-BE49-F238E27FC236}">
                <a16:creationId xmlns:a16="http://schemas.microsoft.com/office/drawing/2014/main" id="{96374B7A-1162-D2E9-C88C-F5F216F98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8960"/>
            <a:ext cx="1099404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065">
              <a:lnSpc>
                <a:spcPct val="100000"/>
              </a:lnSpc>
              <a:spcBef>
                <a:spcPts val="99"/>
              </a:spcBef>
            </a:pPr>
            <a:r>
              <a:rPr lang="en-US" sz="2500" b="1" strike="noStrike" spc="-1">
                <a:solidFill>
                  <a:schemeClr val="dk1"/>
                </a:solidFill>
                <a:latin typeface="Calibri"/>
              </a:rPr>
              <a:t>Learning outcome #2a – Notebook section 2. Layout </a:t>
            </a:r>
            <a:r>
              <a:rPr lang="en-US" sz="2500" b="1" spc="-1">
                <a:solidFill>
                  <a:schemeClr val="dk1"/>
                </a:solidFill>
                <a:latin typeface="Calibri"/>
              </a:rPr>
              <a:t>Fundamentals</a:t>
            </a:r>
            <a:br>
              <a:rPr sz="2500" dirty="0"/>
            </a:br>
            <a:r>
              <a:rPr lang="en-US" sz="1800" i="1" spc="-1">
                <a:solidFill>
                  <a:schemeClr val="dk1"/>
                </a:solidFill>
                <a:latin typeface="Calibri"/>
              </a:rPr>
              <a:t>Ring Resonator</a:t>
            </a:r>
            <a:r>
              <a:rPr lang="en-US" sz="1800" i="1" spc="-1" dirty="0">
                <a:solidFill>
                  <a:schemeClr val="dk1"/>
                </a:solidFill>
                <a:latin typeface="Calibri"/>
              </a:rPr>
              <a:t>​</a:t>
            </a:r>
            <a:endParaRPr lang="en-US" sz="1800" b="0" i="1" strike="noStrike" spc="-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4" name="Gráfico 82">
            <a:extLst>
              <a:ext uri="{FF2B5EF4-FFF2-40B4-BE49-F238E27FC236}">
                <a16:creationId xmlns:a16="http://schemas.microsoft.com/office/drawing/2014/main" id="{96EA5E9C-7E62-9A82-BBA5-1BFAF89F263D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2">
            <a:extLst>
              <a:ext uri="{FF2B5EF4-FFF2-40B4-BE49-F238E27FC236}">
                <a16:creationId xmlns:a16="http://schemas.microsoft.com/office/drawing/2014/main" id="{B2162024-8CD2-3A2B-B1C4-7747C3B1347A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LAB 4.0. LAYOUT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Rectángulo 5">
            <a:extLst>
              <a:ext uri="{FF2B5EF4-FFF2-40B4-BE49-F238E27FC236}">
                <a16:creationId xmlns:a16="http://schemas.microsoft.com/office/drawing/2014/main" id="{A535E164-0408-A853-7E90-B54891F1266F}"/>
              </a:ext>
            </a:extLst>
          </p:cNvPr>
          <p:cNvSpPr/>
          <p:nvPr/>
        </p:nvSpPr>
        <p:spPr>
          <a:xfrm>
            <a:off x="681366" y="1418400"/>
            <a:ext cx="5260434" cy="4153784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ángulo 7">
            <a:extLst>
              <a:ext uri="{FF2B5EF4-FFF2-40B4-BE49-F238E27FC236}">
                <a16:creationId xmlns:a16="http://schemas.microsoft.com/office/drawing/2014/main" id="{565F249E-F9D2-AE34-F362-323B18C19456}"/>
              </a:ext>
            </a:extLst>
          </p:cNvPr>
          <p:cNvSpPr/>
          <p:nvPr/>
        </p:nvSpPr>
        <p:spPr>
          <a:xfrm>
            <a:off x="6476760" y="1420560"/>
            <a:ext cx="5332320" cy="4153784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CuadroTexto 8">
            <a:extLst>
              <a:ext uri="{FF2B5EF4-FFF2-40B4-BE49-F238E27FC236}">
                <a16:creationId xmlns:a16="http://schemas.microsoft.com/office/drawing/2014/main" id="{1A0D68E7-D103-D117-E86C-56D6C08D9931}"/>
              </a:ext>
            </a:extLst>
          </p:cNvPr>
          <p:cNvSpPr/>
          <p:nvPr/>
        </p:nvSpPr>
        <p:spPr>
          <a:xfrm>
            <a:off x="8400240" y="2496240"/>
            <a:ext cx="14857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Example die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 screenshot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1356E546-64EC-9E8D-C880-C356E9CB8AA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7EC15BE-B800-4A8B-96C3-4D64A92677F9}" type="slidenum">
              <a:t>12</a:t>
            </a:fld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C2B793A-8A5C-0B43-208E-2E525DD84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678" y="1983537"/>
            <a:ext cx="3182608" cy="30347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A2BC10A-3EB9-230C-2CF9-500A9A46C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309" y="1674245"/>
            <a:ext cx="4609381" cy="364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50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13913" y="6394"/>
            <a:ext cx="1099404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2500" b="1" strike="noStrike" spc="-1">
                <a:solidFill>
                  <a:schemeClr val="dk1"/>
                </a:solidFill>
                <a:latin typeface="Calibri"/>
              </a:rPr>
              <a:t>Learning outcome #3 – Notebook section 3. Complete layout</a:t>
            </a:r>
            <a:endParaRPr lang="es-ES" sz="25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9" name="Gráfico 8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100" name="PlaceHolder 2"/>
          <p:cNvSpPr>
            <a:spLocks noGrp="1"/>
          </p:cNvSpPr>
          <p:nvPr>
            <p:ph type="ftr" idx="25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LAB 4.0. LAYOUT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CuadroTexto 1"/>
          <p:cNvSpPr/>
          <p:nvPr/>
        </p:nvSpPr>
        <p:spPr>
          <a:xfrm>
            <a:off x="685800" y="990720"/>
            <a:ext cx="5409720" cy="51811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Python code block 1: 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Añade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un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marco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die con die,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coloca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un MMI 1x2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centro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y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prepara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guías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entrada/salida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rectas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hacia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los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bordes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chip.La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idea es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tener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un “test MMI” bien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enrutado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,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empezando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y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terminando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secciones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rectas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para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facilitar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acoplamiento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y el corte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limpio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la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guía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dk1"/>
              </a:solidFill>
              <a:ea typeface="+mn-lt"/>
              <a:cs typeface="+mn-lt"/>
            </a:endParaRPr>
          </a:p>
          <a:p>
            <a:pPr algn="just"/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Después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,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conecta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los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puertos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del MMI con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los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extremos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esas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guías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mediante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route_single_sbend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,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que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crea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un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recorrido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tipo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S entre dos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puertos</a:t>
            </a:r>
            <a:endParaRPr lang="en-US">
              <a:solidFill>
                <a:schemeClr val="dk1"/>
              </a:solidFill>
              <a:ea typeface="Calibri"/>
              <a:cs typeface="Calibri"/>
            </a:endParaRPr>
          </a:p>
          <a:p>
            <a:pPr algn="just"/>
            <a:endParaRPr lang="es-ES" sz="1200" spc="-1">
              <a:solidFill>
                <a:schemeClr val="dk1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Python code block 2: 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Crea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una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vista previa de un árbol MMI,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colocando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tres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instancias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mmi1x2()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dentro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un nuevo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componente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(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mmi_tree_preview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).</a:t>
            </a:r>
            <a:endParaRPr lang="en-US" dirty="0">
              <a:solidFill>
                <a:schemeClr val="dk1"/>
              </a:solidFill>
              <a:ea typeface="+mn-lt"/>
              <a:cs typeface="+mn-lt"/>
            </a:endParaRPr>
          </a:p>
          <a:p>
            <a:pPr algn="just"/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Las dos MMIs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inferiores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se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desplazan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con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dmovex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(250).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dmovey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(250) y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dmovex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(250).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dmovey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(-250) para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formar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una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estructura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simétrica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dk1"/>
              </a:solidFill>
              <a:ea typeface="+mn-lt"/>
              <a:cs typeface="+mn-lt"/>
            </a:endParaRPr>
          </a:p>
          <a:p>
            <a:pPr algn="just"/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Luego, el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bloque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conecta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la salida del primer MMI con las entradas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los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otros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dos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usando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route_single_sbend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, lo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que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da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lugar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a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una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topología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de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división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</a:t>
            </a:r>
            <a:r>
              <a:rPr lang="en-US" sz="1200" spc="-1" dirty="0" err="1">
                <a:solidFill>
                  <a:schemeClr val="dk1"/>
                </a:solidFill>
                <a:ea typeface="+mn-lt"/>
                <a:cs typeface="+mn-lt"/>
              </a:rPr>
              <a:t>en</a:t>
            </a:r>
            <a:r>
              <a:rPr lang="en-US" sz="1200" spc="-1" dirty="0">
                <a:solidFill>
                  <a:schemeClr val="dk1"/>
                </a:solidFill>
                <a:ea typeface="+mn-lt"/>
                <a:cs typeface="+mn-lt"/>
              </a:rPr>
              <a:t> árbol.</a:t>
            </a:r>
            <a:endParaRPr lang="en-US" dirty="0">
              <a:solidFill>
                <a:schemeClr val="dk1"/>
              </a:solidFill>
              <a:ea typeface="Calibri"/>
              <a:cs typeface="Calibri"/>
            </a:endParaRPr>
          </a:p>
          <a:p>
            <a:pPr algn="just"/>
            <a:endParaRPr lang="es-ES" sz="1200" spc="-1">
              <a:solidFill>
                <a:schemeClr val="dk1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Python code block 3: 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es-ES" sz="1200" spc="-1" dirty="0">
                <a:solidFill>
                  <a:srgbClr val="000000"/>
                </a:solidFill>
                <a:ea typeface="+mn-lt"/>
                <a:cs typeface="+mn-lt"/>
              </a:rPr>
              <a:t>Define </a:t>
            </a:r>
            <a:r>
              <a:rPr lang="es-ES" sz="1200" spc="-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mmi_tree_1x4</a:t>
            </a:r>
            <a:r>
              <a:rPr lang="es-ES" sz="1200" spc="-1" dirty="0">
                <a:solidFill>
                  <a:srgbClr val="000000"/>
                </a:solidFill>
                <a:ea typeface="+mn-lt"/>
                <a:cs typeface="+mn-lt"/>
              </a:rPr>
              <a:t> usando el decorador </a:t>
            </a:r>
            <a:r>
              <a:rPr lang="es-ES" sz="1200" spc="-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@gf.cell</a:t>
            </a:r>
            <a:r>
              <a:rPr lang="es-ES" sz="1200" spc="-1" dirty="0">
                <a:solidFill>
                  <a:srgbClr val="000000"/>
                </a:solidFill>
                <a:ea typeface="+mn-lt"/>
                <a:cs typeface="+mn-lt"/>
              </a:rPr>
              <a:t>, que convierte ese diseño en un componente </a:t>
            </a:r>
            <a:r>
              <a:rPr lang="es-ES" sz="1200" spc="-1" dirty="0" err="1">
                <a:solidFill>
                  <a:srgbClr val="000000"/>
                </a:solidFill>
                <a:ea typeface="+mn-lt"/>
                <a:cs typeface="+mn-lt"/>
              </a:rPr>
              <a:t>parametrizable.La</a:t>
            </a:r>
            <a:r>
              <a:rPr lang="es-ES" sz="1200" spc="-1" dirty="0">
                <a:solidFill>
                  <a:srgbClr val="000000"/>
                </a:solidFill>
                <a:ea typeface="+mn-lt"/>
                <a:cs typeface="+mn-lt"/>
              </a:rPr>
              <a:t> función recibe </a:t>
            </a:r>
            <a:r>
              <a:rPr lang="es-ES" sz="1200" spc="-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pad_x</a:t>
            </a:r>
            <a:r>
              <a:rPr lang="es-ES" sz="1200" spc="-1" dirty="0">
                <a:solidFill>
                  <a:srgbClr val="000000"/>
                </a:solidFill>
                <a:ea typeface="+mn-lt"/>
                <a:cs typeface="+mn-lt"/>
              </a:rPr>
              <a:t> y </a:t>
            </a:r>
            <a:r>
              <a:rPr lang="es-ES" sz="1200" spc="-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pad_y</a:t>
            </a:r>
            <a:r>
              <a:rPr lang="es-ES" sz="1200" spc="-1" dirty="0">
                <a:solidFill>
                  <a:srgbClr val="000000"/>
                </a:solidFill>
                <a:ea typeface="+mn-lt"/>
                <a:cs typeface="+mn-lt"/>
              </a:rPr>
              <a:t> para controlar el desplazamiento de las ramas, crea las tres instancias MMI, las conecta igual que en el bloque anterior y además expone puertos externos con </a:t>
            </a:r>
            <a:r>
              <a:rPr lang="es-ES" sz="1200" spc="-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add_port</a:t>
            </a:r>
            <a:r>
              <a:rPr lang="es-ES" sz="1200" spc="-1" dirty="0">
                <a:solidFill>
                  <a:srgbClr val="000000"/>
                </a:solidFill>
                <a:ea typeface="+mn-lt"/>
                <a:cs typeface="+mn-lt"/>
              </a:rPr>
              <a:t>. Eso permite reutilizar el árbol 1x4 como subcomponente dentro de un diseño mayor, y al final se instancia en </a:t>
            </a:r>
            <a:r>
              <a:rPr lang="es-ES" sz="1200" spc="-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main</a:t>
            </a:r>
            <a:r>
              <a:rPr lang="es-ES" sz="1200" spc="-1" dirty="0">
                <a:solidFill>
                  <a:srgbClr val="000000"/>
                </a:solidFill>
                <a:ea typeface="+mn-lt"/>
                <a:cs typeface="+mn-lt"/>
              </a:rPr>
              <a:t> con </a:t>
            </a:r>
            <a:r>
              <a:rPr lang="es-ES" sz="1200" spc="-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main.add_ref</a:t>
            </a:r>
            <a:r>
              <a:rPr lang="es-ES" sz="1200" spc="-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(mmi_tree_1x4())</a:t>
            </a:r>
            <a:endParaRPr lang="es-ES">
              <a:latin typeface="Calibri"/>
              <a:ea typeface="Calibri"/>
              <a:cs typeface="Calibri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Python code block 4: </a:t>
            </a:r>
            <a:endParaRPr lang="es-ES" sz="1200" b="0" strike="noStrike" spc="-1">
              <a:solidFill>
                <a:schemeClr val="dk1"/>
              </a:solidFill>
              <a:latin typeface="Arial"/>
            </a:endParaRPr>
          </a:p>
          <a:p>
            <a:pPr algn="just"/>
            <a:r>
              <a:rPr lang="es-ES" sz="1200" spc="-1">
                <a:solidFill>
                  <a:srgbClr val="000000"/>
                </a:solidFill>
                <a:ea typeface="+mn-lt"/>
                <a:cs typeface="+mn-lt"/>
              </a:rPr>
              <a:t>Este bloque transforma el árbol MMI en un circuito más completo, con interfaces ordenadas para entrada y salida en un chip compacto.</a:t>
            </a:r>
            <a:endParaRPr lang="es-ES"/>
          </a:p>
        </p:txBody>
      </p:sp>
      <p:sp>
        <p:nvSpPr>
          <p:cNvPr id="102" name="Rectángulo 7"/>
          <p:cNvSpPr/>
          <p:nvPr/>
        </p:nvSpPr>
        <p:spPr>
          <a:xfrm>
            <a:off x="6191011" y="415267"/>
            <a:ext cx="5738960" cy="5756213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D3D0763-F620-4CF4-8AC8-348A6B8B33BB}" type="slidenum">
              <a:t>13</a:t>
            </a:fld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5642524-438A-140B-B56A-580368784E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174" r="297" b="-541"/>
          <a:stretch>
            <a:fillRect/>
          </a:stretch>
        </p:blipFill>
        <p:spPr>
          <a:xfrm>
            <a:off x="6652403" y="4391564"/>
            <a:ext cx="4825061" cy="176280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28E0443-B35F-7DD8-C5B2-148B6C51C8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3422" y="2263715"/>
            <a:ext cx="2869722" cy="21206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AA73C22-A5AC-ED2E-C8A0-A9EDE7B617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1724" y="2249337"/>
            <a:ext cx="2294626" cy="214079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5DE9681-6032-3817-01AA-A31D554C9F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480" y="423413"/>
            <a:ext cx="2366514" cy="18273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85800" y="408960"/>
            <a:ext cx="1099404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065">
              <a:lnSpc>
                <a:spcPct val="100000"/>
              </a:lnSpc>
              <a:spcBef>
                <a:spcPts val="99"/>
              </a:spcBef>
            </a:pPr>
            <a:r>
              <a:rPr lang="en-US" sz="2500" b="1" strike="noStrike" spc="-1">
                <a:solidFill>
                  <a:schemeClr val="dk1"/>
                </a:solidFill>
                <a:latin typeface="Calibri"/>
              </a:rPr>
              <a:t>Learning outcome #4 – Notebook section 4. Exercises –</a:t>
            </a:r>
            <a:r>
              <a:rPr lang="en-US" sz="2500" b="1" spc="-1">
                <a:solidFill>
                  <a:schemeClr val="dk1"/>
                </a:solidFill>
                <a:latin typeface="Calibri"/>
              </a:rPr>
              <a:t> Part A</a:t>
            </a:r>
            <a:endParaRPr lang="es-ES" sz="25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5" name="Gráfico 8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2"/>
          <p:cNvSpPr>
            <a:spLocks noGrp="1"/>
          </p:cNvSpPr>
          <p:nvPr>
            <p:ph type="ftr" idx="26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LAB 4.0. LAYOUT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CuadroTexto 1"/>
          <p:cNvSpPr/>
          <p:nvPr/>
        </p:nvSpPr>
        <p:spPr>
          <a:xfrm>
            <a:off x="685800" y="820123"/>
            <a:ext cx="5409720" cy="535171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/>
            <a:r>
              <a:rPr lang="en-US" sz="1000" b="1" spc="-1">
                <a:solidFill>
                  <a:schemeClr val="dk1"/>
                </a:solidFill>
                <a:latin typeface="Arial"/>
                <a:cs typeface="Arial"/>
              </a:rPr>
              <a:t>Part a) Creating components</a:t>
            </a:r>
            <a:endParaRPr lang="es-ES" sz="1000" spc="-1">
              <a:solidFill>
                <a:schemeClr val="dk1"/>
              </a:solidFill>
              <a:latin typeface="Arial"/>
              <a:cs typeface="Arial"/>
            </a:endParaRPr>
          </a:p>
          <a:p>
            <a:pPr algn="just"/>
            <a:endParaRPr lang="es-ES" sz="1200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algn="just" defTabSz="914400">
              <a:lnSpc>
                <a:spcPct val="100000"/>
              </a:lnSpc>
            </a:pPr>
            <a:endParaRPr lang="en-US" sz="1200" b="1" spc="-1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08" name="Rectángulo 7"/>
          <p:cNvSpPr/>
          <p:nvPr/>
        </p:nvSpPr>
        <p:spPr>
          <a:xfrm>
            <a:off x="6294012" y="819763"/>
            <a:ext cx="5592828" cy="5351717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E1DF52C-1FFF-4A8D-BA13-260A920D8B61}" type="slidenum">
              <a:t>14</a:t>
            </a:fld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52AEE8-8C79-1F56-D495-2D986DD41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422" y="1241550"/>
            <a:ext cx="3814411" cy="493840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DFA637F-EEA6-C645-C8A8-EB2A9F693A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343" y="824907"/>
            <a:ext cx="2339261" cy="18332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F362A41-A62C-4799-1AC4-035D4116FA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4399" y="824907"/>
            <a:ext cx="2327244" cy="183667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110A50E-6EF7-8037-C9A8-5DD1C2395A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4429" y="2517573"/>
            <a:ext cx="2334110" cy="182444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9B35E1A-7DB8-31BC-54EE-924A88E7D4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1994" y="2528946"/>
            <a:ext cx="2335399" cy="181972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BEE13AB-EBDD-F92B-BBD4-89002A2694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8030" y="4347462"/>
            <a:ext cx="2360506" cy="18276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665B1-1D9A-E880-9534-42D266D39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>
            <a:extLst>
              <a:ext uri="{FF2B5EF4-FFF2-40B4-BE49-F238E27FC236}">
                <a16:creationId xmlns:a16="http://schemas.microsoft.com/office/drawing/2014/main" id="{B32F46D8-89E3-FD1F-E549-730452833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8960"/>
            <a:ext cx="1099404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2500" b="1" strike="noStrike" spc="-1">
                <a:solidFill>
                  <a:schemeClr val="dk1"/>
                </a:solidFill>
                <a:latin typeface="Calibri"/>
              </a:rPr>
              <a:t>Learning outcome #4 – Notebook section 4. Exercises – 1 slide per bullet point</a:t>
            </a:r>
            <a:endParaRPr lang="es-ES" sz="25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5" name="Gráfico 82">
            <a:extLst>
              <a:ext uri="{FF2B5EF4-FFF2-40B4-BE49-F238E27FC236}">
                <a16:creationId xmlns:a16="http://schemas.microsoft.com/office/drawing/2014/main" id="{F1803473-C994-BE84-E42C-8971F82AF3AD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2">
            <a:extLst>
              <a:ext uri="{FF2B5EF4-FFF2-40B4-BE49-F238E27FC236}">
                <a16:creationId xmlns:a16="http://schemas.microsoft.com/office/drawing/2014/main" id="{36686D9A-70FB-6642-F6A6-23C905AF7D5B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LAB 4.0. LAYOUT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CuadroTexto 1">
            <a:extLst>
              <a:ext uri="{FF2B5EF4-FFF2-40B4-BE49-F238E27FC236}">
                <a16:creationId xmlns:a16="http://schemas.microsoft.com/office/drawing/2014/main" id="{B3082471-FC33-0991-CD0B-905C3949A507}"/>
              </a:ext>
            </a:extLst>
          </p:cNvPr>
          <p:cNvSpPr/>
          <p:nvPr/>
        </p:nvSpPr>
        <p:spPr>
          <a:xfrm>
            <a:off x="613913" y="990720"/>
            <a:ext cx="5639757" cy="51811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 defTabSz="914400">
              <a:lnSpc>
                <a:spcPct val="100000"/>
              </a:lnSpc>
            </a:pPr>
            <a:endParaRPr lang="en-US" sz="120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algn="just" defTabSz="914400">
              <a:lnSpc>
                <a:spcPct val="100000"/>
              </a:lnSpc>
            </a:pPr>
            <a:endParaRPr lang="es-ES" sz="1200" b="0" strike="noStrike" spc="-1">
              <a:solidFill>
                <a:schemeClr val="dk1"/>
              </a:solidFill>
              <a:latin typeface="Arial"/>
              <a:cs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200" b="1" strike="noStrike" spc="-1">
                <a:solidFill>
                  <a:schemeClr val="dk1"/>
                </a:solidFill>
                <a:latin typeface="Arial"/>
              </a:rPr>
              <a:t>Part b) Creating die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- Create a die  W = 5 mm x L = 10 mm 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200" b="0" strike="noStrike" spc="-1" dirty="0">
                <a:solidFill>
                  <a:schemeClr val="dk1"/>
                </a:solidFill>
                <a:latin typeface="Arial"/>
              </a:rPr>
              <a:t>- Create an array of I/</a:t>
            </a:r>
            <a:r>
              <a:rPr lang="en-US" sz="1200" b="0" strike="noStrike" spc="-1" dirty="0" err="1">
                <a:solidFill>
                  <a:schemeClr val="dk1"/>
                </a:solidFill>
                <a:latin typeface="Arial"/>
              </a:rPr>
              <a:t>Os</a:t>
            </a:r>
            <a:r>
              <a:rPr lang="en-US" sz="1200" b="0" strike="noStrike" spc="-1" dirty="0">
                <a:solidFill>
                  <a:schemeClr val="dk1"/>
                </a:solidFill>
                <a:latin typeface="Arial"/>
              </a:rPr>
              <a:t> spaced at 250 µm (as much I/</a:t>
            </a:r>
            <a:r>
              <a:rPr lang="en-US" sz="1200" b="0" strike="noStrike" spc="-1" dirty="0" err="1">
                <a:solidFill>
                  <a:schemeClr val="dk1"/>
                </a:solidFill>
                <a:latin typeface="Arial"/>
              </a:rPr>
              <a:t>Os</a:t>
            </a:r>
            <a:r>
              <a:rPr lang="en-US" sz="1200" b="0" strike="noStrike" spc="-1" dirty="0">
                <a:solidFill>
                  <a:schemeClr val="dk1"/>
                </a:solidFill>
                <a:latin typeface="Arial"/>
              </a:rPr>
              <a:t> as the width allows)</a:t>
            </a:r>
            <a:endParaRPr lang="es-ES" sz="1200" b="0" strike="noStrike" spc="-1" dirty="0">
              <a:solidFill>
                <a:schemeClr val="dk1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200" b="0" strike="noStrike" spc="-1" dirty="0">
                <a:solidFill>
                  <a:schemeClr val="dk1"/>
                </a:solidFill>
                <a:latin typeface="Arial"/>
              </a:rPr>
              <a:t>- Create a cell component of this die, with I/</a:t>
            </a:r>
            <a:r>
              <a:rPr lang="en-US" sz="1200" b="0" strike="noStrike" spc="-1" dirty="0" err="1">
                <a:solidFill>
                  <a:schemeClr val="dk1"/>
                </a:solidFill>
                <a:latin typeface="Arial"/>
              </a:rPr>
              <a:t>Os</a:t>
            </a:r>
            <a:r>
              <a:rPr lang="en-US" sz="1200" b="0" strike="noStrike" spc="-1" dirty="0">
                <a:solidFill>
                  <a:schemeClr val="dk1"/>
                </a:solidFill>
                <a:latin typeface="Arial"/>
              </a:rPr>
              <a:t> accessible to connect</a:t>
            </a:r>
            <a:endParaRPr lang="es-ES" sz="1200" b="0" strike="noStrike" spc="-1" dirty="0">
              <a:solidFill>
                <a:schemeClr val="dk1"/>
              </a:solidFill>
              <a:latin typeface="Arial"/>
            </a:endParaRPr>
          </a:p>
          <a:p>
            <a:pPr algn="just"/>
            <a:r>
              <a:rPr lang="es-ES" sz="1200" spc="-1" dirty="0">
                <a:solidFill>
                  <a:srgbClr val="000000"/>
                </a:solidFill>
                <a:latin typeface="Arial"/>
                <a:cs typeface="Arial"/>
              </a:rPr>
              <a:t>Calculamos el número de puertos entrantes según el ancho de guía </a:t>
            </a:r>
            <a:r>
              <a:rPr lang="es-ES" sz="1200" spc="-1">
                <a:solidFill>
                  <a:srgbClr val="000000"/>
                </a:solidFill>
                <a:latin typeface="Arial"/>
                <a:cs typeface="Arial"/>
              </a:rPr>
              <a:t>estándar.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es-ES" sz="1200" spc="-1">
                <a:solidFill>
                  <a:schemeClr val="dk1"/>
                </a:solidFill>
                <a:ea typeface="+mn-lt"/>
                <a:cs typeface="+mn-lt"/>
              </a:rPr>
              <a:t>(5000 − 2·250) / 250 + 1.</a:t>
            </a:r>
            <a:endParaRPr lang="es-ES"/>
          </a:p>
          <a:p>
            <a:pPr algn="just"/>
            <a:endParaRPr lang="es-ES" sz="1200" spc="-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algn="just"/>
            <a:endParaRPr lang="es-ES" sz="1200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algn="just"/>
            <a:endParaRPr lang="es-ES" sz="1200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algn="just"/>
            <a:endParaRPr lang="es-ES" sz="1200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algn="just"/>
            <a:endParaRPr lang="en-US" sz="1200" spc="-1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08" name="Rectángulo 7">
            <a:extLst>
              <a:ext uri="{FF2B5EF4-FFF2-40B4-BE49-F238E27FC236}">
                <a16:creationId xmlns:a16="http://schemas.microsoft.com/office/drawing/2014/main" id="{F2F9CBB7-869A-E87C-E73A-2CF65C56775F}"/>
              </a:ext>
            </a:extLst>
          </p:cNvPr>
          <p:cNvSpPr/>
          <p:nvPr/>
        </p:nvSpPr>
        <p:spPr>
          <a:xfrm>
            <a:off x="6248520" y="990360"/>
            <a:ext cx="5638320" cy="5181120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A8C450D6-46BC-AB02-5598-742DF6FB7C2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E1DF52C-1FFF-4A8D-BA13-260A920D8B61}" type="slidenum">
              <a:t>15</a:t>
            </a:fld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E8B0F55-5836-4D10-E89C-1DA2E1752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479" y="1573603"/>
            <a:ext cx="5428891" cy="422838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7DA233B-4667-C8BE-6107-E32274D7CE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4745" y="2607065"/>
            <a:ext cx="4370359" cy="38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56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2DFE5-59C0-4801-3D7A-0F0EBAAD0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>
            <a:extLst>
              <a:ext uri="{FF2B5EF4-FFF2-40B4-BE49-F238E27FC236}">
                <a16:creationId xmlns:a16="http://schemas.microsoft.com/office/drawing/2014/main" id="{8602DDE4-18F3-6181-C707-14B63EF56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8960"/>
            <a:ext cx="1099404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2500" b="1" strike="noStrike" spc="-1">
                <a:solidFill>
                  <a:schemeClr val="dk1"/>
                </a:solidFill>
                <a:latin typeface="Calibri"/>
              </a:rPr>
              <a:t>Learning outcome #4 – Notebook section 4. Exercises – 1 slide per bullet point</a:t>
            </a:r>
            <a:endParaRPr lang="es-ES" sz="25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5" name="Gráfico 82">
            <a:extLst>
              <a:ext uri="{FF2B5EF4-FFF2-40B4-BE49-F238E27FC236}">
                <a16:creationId xmlns:a16="http://schemas.microsoft.com/office/drawing/2014/main" id="{BC9D1F8B-D06F-CEBD-FE54-1AD29A4B8889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045040" y="6356160"/>
            <a:ext cx="6409080" cy="36288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2">
            <a:extLst>
              <a:ext uri="{FF2B5EF4-FFF2-40B4-BE49-F238E27FC236}">
                <a16:creationId xmlns:a16="http://schemas.microsoft.com/office/drawing/2014/main" id="{38086C97-DC52-2184-48B4-8654B125A279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609480" y="6456960"/>
            <a:ext cx="27428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14"/>
              </a:spcBef>
              <a:buNone/>
              <a:defRPr lang="es-ES" sz="1200" b="0" strike="noStrike" spc="-7">
                <a:solidFill>
                  <a:srgbClr val="585858"/>
                </a:solidFill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14"/>
              </a:spcBef>
              <a:buNone/>
            </a:pPr>
            <a:r>
              <a:rPr lang="es-ES" sz="1200" b="0" strike="noStrike" spc="-7">
                <a:solidFill>
                  <a:srgbClr val="585858"/>
                </a:solidFill>
                <a:latin typeface="Arial"/>
              </a:rPr>
              <a:t>LAB 4.0. LAYOUT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CuadroTexto 1">
            <a:extLst>
              <a:ext uri="{FF2B5EF4-FFF2-40B4-BE49-F238E27FC236}">
                <a16:creationId xmlns:a16="http://schemas.microsoft.com/office/drawing/2014/main" id="{FDFB7682-4611-3B89-9E86-BFCA13134D72}"/>
              </a:ext>
            </a:extLst>
          </p:cNvPr>
          <p:cNvSpPr/>
          <p:nvPr/>
        </p:nvSpPr>
        <p:spPr>
          <a:xfrm>
            <a:off x="96329" y="990720"/>
            <a:ext cx="6099832" cy="546866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1000" b="1" strike="noStrike" spc="-1" dirty="0">
                <a:solidFill>
                  <a:schemeClr val="dk1"/>
                </a:solidFill>
                <a:latin typeface="Arial"/>
              </a:rPr>
              <a:t>Part c) </a:t>
            </a:r>
            <a:r>
              <a:rPr lang="en-US" sz="1000" b="1" strike="noStrike" spc="-1" dirty="0" err="1">
                <a:solidFill>
                  <a:schemeClr val="dk1"/>
                </a:solidFill>
                <a:latin typeface="Arial"/>
              </a:rPr>
              <a:t>Floorplaning</a:t>
            </a:r>
            <a:r>
              <a:rPr lang="en-US" sz="1000" b="1" strike="noStrike" spc="-1" dirty="0">
                <a:solidFill>
                  <a:schemeClr val="dk1"/>
                </a:solidFill>
                <a:latin typeface="Arial"/>
              </a:rPr>
              <a:t> and die layout</a:t>
            </a:r>
            <a:endParaRPr lang="es-ES" sz="1000" b="0" strike="noStrike" spc="-1">
              <a:solidFill>
                <a:schemeClr val="dk1"/>
              </a:solidFill>
              <a:latin typeface="Arial"/>
              <a:cs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000" b="0" strike="noStrike" spc="-1">
                <a:solidFill>
                  <a:schemeClr val="dk1"/>
                </a:solidFill>
                <a:latin typeface="Arial"/>
              </a:rPr>
              <a:t>- Make an instance of the die as host component for your layout</a:t>
            </a:r>
            <a:endParaRPr lang="es-ES" sz="1000" b="0" strike="noStrike" spc="-1">
              <a:solidFill>
                <a:schemeClr val="dk1"/>
              </a:solidFill>
              <a:latin typeface="Arial"/>
              <a:cs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000" b="0" strike="noStrike" spc="-1">
                <a:solidFill>
                  <a:schemeClr val="dk1"/>
                </a:solidFill>
                <a:latin typeface="Arial"/>
              </a:rPr>
              <a:t>- Add 3 sets of 3 straight waveguides, from left to right of the die, top, middle and bottom of the die</a:t>
            </a:r>
            <a:endParaRPr lang="en-US" sz="1000" b="0" strike="noStrike" spc="-1">
              <a:solidFill>
                <a:schemeClr val="dk1"/>
              </a:solidFill>
              <a:latin typeface="Arial"/>
              <a:cs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000" b="0" strike="noStrike" spc="-1">
                <a:solidFill>
                  <a:schemeClr val="dk1"/>
                </a:solidFill>
                <a:latin typeface="Arial"/>
              </a:rPr>
              <a:t>- Add 2 of each of the components above, with different lengths</a:t>
            </a:r>
            <a:endParaRPr lang="es-ES" sz="1000" b="0" strike="noStrike" spc="-1">
              <a:solidFill>
                <a:schemeClr val="dk1"/>
              </a:solidFill>
              <a:latin typeface="Arial"/>
              <a:cs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dk1"/>
                </a:solidFill>
                <a:latin typeface="Arial"/>
              </a:rPr>
              <a:t>- Connect all your components to the I/</a:t>
            </a:r>
            <a:r>
              <a:rPr lang="en-US" sz="1000" b="0" strike="noStrike" spc="-1" dirty="0" err="1">
                <a:solidFill>
                  <a:schemeClr val="dk1"/>
                </a:solidFill>
                <a:latin typeface="Arial"/>
              </a:rPr>
              <a:t>Os</a:t>
            </a:r>
            <a:r>
              <a:rPr lang="en-US" sz="10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000" b="0" strike="noStrike" spc="-1">
              <a:solidFill>
                <a:schemeClr val="dk1"/>
              </a:solidFill>
              <a:latin typeface="Arial"/>
              <a:cs typeface="Arial"/>
            </a:endParaRPr>
          </a:p>
          <a:p>
            <a:pPr algn="just"/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Cada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puerto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de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cada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componente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se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conecta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a un I/O del die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mediante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rutas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(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cs typeface="Arial"/>
              </a:rPr>
              <a:t>route_single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o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cs typeface="Arial"/>
              </a:rPr>
              <a:t>route_single_sbend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). Los </a:t>
            </a:r>
            <a:r>
              <a:rPr lang="en-US" sz="1000" b="1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componentes</a:t>
            </a:r>
            <a:r>
              <a:rPr lang="en-US" sz="1000" b="1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pass-through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(MZIs)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tienen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2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puertos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de entrada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en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el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lado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W y 2 de salida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en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el E. Los </a:t>
            </a:r>
            <a:r>
              <a:rPr lang="en-US" sz="1000" b="1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componentes</a:t>
            </a:r>
            <a:r>
              <a:rPr lang="en-US" sz="1000" b="1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000" b="1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reflectivos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(rings y spirals),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cuyos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dos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puertos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apuntan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al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mismo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lado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,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ocupan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dos I/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Os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del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mismo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000" spc="-1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lado</a:t>
            </a:r>
            <a:r>
              <a:rPr lang="en-US" sz="1000" spc="-1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del die.</a:t>
            </a:r>
          </a:p>
          <a:p>
            <a:pPr algn="just"/>
            <a:r>
              <a:rPr lang="en-US" sz="1000" spc="-1">
                <a:solidFill>
                  <a:schemeClr val="dk1"/>
                </a:solidFill>
                <a:latin typeface="Arial"/>
                <a:ea typeface="Calibri"/>
                <a:cs typeface="Arial"/>
              </a:rPr>
              <a:t>PARA MÁS INFORMACIÓN CONSULTAR CÓDIGO</a:t>
            </a:r>
            <a:endParaRPr lang="en-US" sz="1000" spc="-1" dirty="0">
              <a:solidFill>
                <a:schemeClr val="dk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08" name="Rectángulo 7">
            <a:extLst>
              <a:ext uri="{FF2B5EF4-FFF2-40B4-BE49-F238E27FC236}">
                <a16:creationId xmlns:a16="http://schemas.microsoft.com/office/drawing/2014/main" id="{1BC12CF0-B5FF-6C8D-3D28-2B59F585A474}"/>
              </a:ext>
            </a:extLst>
          </p:cNvPr>
          <p:cNvSpPr/>
          <p:nvPr/>
        </p:nvSpPr>
        <p:spPr>
          <a:xfrm>
            <a:off x="6248520" y="990360"/>
            <a:ext cx="5638320" cy="5181120"/>
          </a:xfrm>
          <a:prstGeom prst="rect">
            <a:avLst/>
          </a:prstGeom>
          <a:noFill/>
          <a:ln w="28575">
            <a:solidFill>
              <a:srgbClr val="E0700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7744286-122C-BCA4-C671-FF4FDCA8035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E1DF52C-1FFF-4A8D-BA13-260A920D8B61}" type="slidenum">
              <a:t>16</a:t>
            </a:fld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B41C56-9888-3850-804C-1EF76E2BF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856" y="1573603"/>
            <a:ext cx="5400136" cy="411336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CB17F14-A123-6D37-D743-D74F07722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8199" y="2588554"/>
            <a:ext cx="3579604" cy="379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01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object 3"/>
          <p:cNvSpPr/>
          <p:nvPr/>
        </p:nvSpPr>
        <p:spPr>
          <a:xfrm>
            <a:off x="3945600" y="2636640"/>
            <a:ext cx="8246160" cy="15847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13320" y="3165840"/>
            <a:ext cx="22330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lang="es-ES" sz="3200" b="1" strike="noStrike" spc="-7">
                <a:solidFill>
                  <a:srgbClr val="FFFFFF"/>
                </a:solidFill>
                <a:latin typeface="Lucida Sans"/>
              </a:rPr>
              <a:t>Thank</a:t>
            </a:r>
            <a:r>
              <a:rPr lang="es-ES" sz="3200" b="1" strike="noStrike" spc="-55">
                <a:solidFill>
                  <a:srgbClr val="FFFFFF"/>
                </a:solidFill>
                <a:latin typeface="Lucida Sans"/>
              </a:rPr>
              <a:t> </a:t>
            </a:r>
            <a:r>
              <a:rPr lang="es-ES" sz="3200" b="1" strike="noStrike" spc="-1">
                <a:solidFill>
                  <a:srgbClr val="FFFFFF"/>
                </a:solidFill>
                <a:latin typeface="Lucida Sans"/>
              </a:rPr>
              <a:t>you</a:t>
            </a: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1C407C7D-2323-4050-AD40-281C707F738F}" type="slidenum">
              <a:t>17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840</TotalTime>
  <Words>726</Words>
  <Application>Microsoft Office PowerPoint</Application>
  <PresentationFormat>Panorámica</PresentationFormat>
  <Paragraphs>96</Paragraphs>
  <Slides>17</Slides>
  <Notes>14</Notes>
  <HiddenSlides>0</HiddenSlides>
  <ScaleCrop>false</ScaleCrop>
  <HeadingPairs>
    <vt:vector size="4" baseType="variant">
      <vt:variant>
        <vt:lpstr>Tema</vt:lpstr>
      </vt:variant>
      <vt:variant>
        <vt:i4>6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Office Theme</vt:lpstr>
      <vt:lpstr>Office Theme</vt:lpstr>
      <vt:lpstr>Office Theme</vt:lpstr>
      <vt:lpstr>Office Theme</vt:lpstr>
      <vt:lpstr>Office Theme</vt:lpstr>
      <vt:lpstr>Office Theme</vt:lpstr>
      <vt:lpstr>Presentación de PowerPoint</vt:lpstr>
      <vt:lpstr>Instructions General</vt:lpstr>
      <vt:lpstr>Learning outcome #1a – Notebook section 1. Technology “We will work with the demo UPVfab PDK. Let's view the layer distribution of this PDK”</vt:lpstr>
      <vt:lpstr>Learning outcome #1a – Notebook section 1. Technology Number of the following layers</vt:lpstr>
      <vt:lpstr>Learning outcome #1b – Notebook section 1. Technology –  Directional Coupler </vt:lpstr>
      <vt:lpstr>Learning outcome #1b – Notebook section 1. Technology – MMI 2x2</vt:lpstr>
      <vt:lpstr>Learning outcome #1b – Notebook section 1. Technology – MZI</vt:lpstr>
      <vt:lpstr>Learning outcome #1b – Notebook section 1. Technology – Ring Resonator</vt:lpstr>
      <vt:lpstr>Learning outcome #2a – Notebook section 2. Layout Fundamentals Directional CouplerDirectional Coupler​</vt:lpstr>
      <vt:lpstr>Learning outcome #2a – Notebook section 2. Layout Fundamentals MultiMode Interferometer 2x2</vt:lpstr>
      <vt:lpstr>Learning outcome #2a – Notebook section 2. Layout Fundamentals  Mach Zender Interferometer​</vt:lpstr>
      <vt:lpstr>Learning outcome #2a – Notebook section 2. Layout Fundamentals Ring Resonator​</vt:lpstr>
      <vt:lpstr>Learning outcome #3 – Notebook section 3. Complete layout</vt:lpstr>
      <vt:lpstr>Learning outcome #4 – Notebook section 4. Exercises – Part A</vt:lpstr>
      <vt:lpstr>Learning outcome #4 – Notebook section 4. Exercises – 1 slide per bullet point</vt:lpstr>
      <vt:lpstr>Learning outcome #4 – Notebook section 4. Exercises – 1 slide per bullet point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Mª Ester Calataytud</dc:creator>
  <dc:description/>
  <cp:lastModifiedBy/>
  <cp:revision>326</cp:revision>
  <dcterms:created xsi:type="dcterms:W3CDTF">2025-01-27T02:46:57Z</dcterms:created>
  <dcterms:modified xsi:type="dcterms:W3CDTF">2026-06-12T14:37:50Z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  <property fmtid="{D5CDD505-2E9C-101B-9397-08002B2CF9AE}" pid="5" name="Notes">
    <vt:i4>6</vt:i4>
  </property>
  <property fmtid="{D5CDD505-2E9C-101B-9397-08002B2CF9AE}" pid="6" name="PresentationFormat">
    <vt:lpwstr>Panorámica</vt:lpwstr>
  </property>
  <property fmtid="{D5CDD505-2E9C-101B-9397-08002B2CF9AE}" pid="7" name="Slides">
    <vt:i4>9</vt:i4>
  </property>
</Properties>
</file>